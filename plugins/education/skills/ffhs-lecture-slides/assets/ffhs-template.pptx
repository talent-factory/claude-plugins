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5"/>
  </p:sldMasterIdLst>
  <p:notesMasterIdLst>
    <p:notesMasterId r:id="rId40"/>
  </p:notesMasterIdLst>
  <p:handoutMasterIdLst>
    <p:handoutMasterId r:id="rId41"/>
  </p:handoutMasterIdLst>
  <p:sldIdLst>
    <p:sldId id="257" r:id="rId6"/>
    <p:sldId id="306" r:id="rId7"/>
    <p:sldId id="307" r:id="rId8"/>
    <p:sldId id="271" r:id="rId9"/>
    <p:sldId id="272" r:id="rId10"/>
    <p:sldId id="273" r:id="rId11"/>
    <p:sldId id="258" r:id="rId12"/>
    <p:sldId id="259" r:id="rId13"/>
    <p:sldId id="263" r:id="rId14"/>
    <p:sldId id="274" r:id="rId15"/>
    <p:sldId id="275" r:id="rId16"/>
    <p:sldId id="266" r:id="rId17"/>
    <p:sldId id="267" r:id="rId18"/>
    <p:sldId id="268" r:id="rId19"/>
    <p:sldId id="278" r:id="rId20"/>
    <p:sldId id="277" r:id="rId21"/>
    <p:sldId id="276" r:id="rId22"/>
    <p:sldId id="308" r:id="rId23"/>
    <p:sldId id="309" r:id="rId24"/>
    <p:sldId id="310" r:id="rId25"/>
    <p:sldId id="269" r:id="rId26"/>
    <p:sldId id="311" r:id="rId27"/>
    <p:sldId id="312" r:id="rId28"/>
    <p:sldId id="270" r:id="rId29"/>
    <p:sldId id="313" r:id="rId30"/>
    <p:sldId id="280" r:id="rId31"/>
    <p:sldId id="281" r:id="rId32"/>
    <p:sldId id="282" r:id="rId33"/>
    <p:sldId id="283" r:id="rId34"/>
    <p:sldId id="285" r:id="rId35"/>
    <p:sldId id="314" r:id="rId36"/>
    <p:sldId id="299" r:id="rId37"/>
    <p:sldId id="315" r:id="rId38"/>
    <p:sldId id="316" r:id="rId3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B25"/>
    <a:srgbClr val="5A246F"/>
    <a:srgbClr val="A10F32"/>
    <a:srgbClr val="AE1F3E"/>
    <a:srgbClr val="FFC000"/>
    <a:srgbClr val="711D5B"/>
    <a:srgbClr val="901441"/>
    <a:srgbClr val="D0010A"/>
    <a:srgbClr val="D50006"/>
    <a:srgbClr val="FF4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226" autoAdjust="0"/>
  </p:normalViewPr>
  <p:slideViewPr>
    <p:cSldViewPr snapToGrid="0">
      <p:cViewPr varScale="1">
        <p:scale>
          <a:sx n="123" d="100"/>
          <a:sy n="123" d="100"/>
        </p:scale>
        <p:origin x="108" y="2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In</a:t>
            </a:r>
            <a:r>
              <a:rPr lang="de-DE" baseline="0"/>
              <a:t> welchem Studium befinden Sie sich aktuell?</a:t>
            </a:r>
            <a:endParaRPr lang="de-CH"/>
          </a:p>
        </c:rich>
      </c:tx>
      <c:layout>
        <c:manualLayout>
          <c:xMode val="edge"/>
          <c:yMode val="edge"/>
          <c:x val="0.26942740333431769"/>
          <c:y val="1.36047903151730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4032129328071394"/>
          <c:y val="0.17981153642116085"/>
          <c:w val="0.85466208594960658"/>
          <c:h val="0.54318538820038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Bachelor (BSc)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D5-4607-9766-82749D84038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Master (MSc)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D5-4607-9766-82749D84038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Weiterbildung (CAS/DAS/MAS/EMBA)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D5-4607-9766-82749D8403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30821199"/>
        <c:axId val="1030813999"/>
      </c:barChart>
      <c:catAx>
        <c:axId val="10308211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813999"/>
        <c:crosses val="autoZero"/>
        <c:auto val="1"/>
        <c:lblAlgn val="ctr"/>
        <c:lblOffset val="100"/>
        <c:noMultiLvlLbl val="0"/>
      </c:catAx>
      <c:valAx>
        <c:axId val="1030813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Prozent</a:t>
                </a:r>
                <a:endParaRPr lang="de-CH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30821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814956848252188"/>
          <c:y val="0.81700718181347376"/>
          <c:w val="0.78581672919882517"/>
          <c:h val="0.147547363717189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In</a:t>
            </a:r>
            <a:r>
              <a:rPr lang="de-DE" baseline="0"/>
              <a:t> welchem Semester befinden Sie sich aktuell?</a:t>
            </a:r>
            <a:endParaRPr lang="de-CH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1. Semester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B6-4FCF-B57A-9D445B2B434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2. Semsetr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B6-4FCF-B57A-9D445B2B434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3. Semester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B6-4FCF-B57A-9D445B2B4340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4. Semester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B6-4FCF-B57A-9D445B2B4340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5. Semester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B6-4FCF-B57A-9D445B2B4340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6. Semester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Tabelle1!$G$2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B6-4FCF-B57A-9D445B2B4340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7. Semster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Tabelle1!$H$2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B6-4FCF-B57A-9D445B2B4340}"/>
            </c:ext>
          </c:extLst>
        </c:ser>
        <c:ser>
          <c:idx val="7"/>
          <c:order val="7"/>
          <c:tx>
            <c:strRef>
              <c:f>Tabelle1!$I$1</c:f>
              <c:strCache>
                <c:ptCount val="1"/>
                <c:pt idx="0">
                  <c:v>8. Semester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Tabelle1!$I$2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3B6-4FCF-B57A-9D445B2B4340}"/>
            </c:ext>
          </c:extLst>
        </c:ser>
        <c:ser>
          <c:idx val="8"/>
          <c:order val="8"/>
          <c:tx>
            <c:strRef>
              <c:f>Tabelle1!$J$1</c:f>
              <c:strCache>
                <c:ptCount val="1"/>
                <c:pt idx="0">
                  <c:v>9. Semester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Tabelle1!$J$2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3B6-4FCF-B57A-9D445B2B43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89786463"/>
        <c:axId val="989786943"/>
      </c:barChart>
      <c:catAx>
        <c:axId val="9897864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89786943"/>
        <c:crosses val="autoZero"/>
        <c:auto val="1"/>
        <c:lblAlgn val="ctr"/>
        <c:lblOffset val="100"/>
        <c:noMultiLvlLbl val="0"/>
      </c:catAx>
      <c:valAx>
        <c:axId val="98978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Prozent</a:t>
                </a:r>
                <a:endParaRPr lang="de-CH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89786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/>
              <a:t>Wie wichtig finden Sie</a:t>
            </a:r>
            <a:r>
              <a:rPr lang="de-CH" baseline="0"/>
              <a:t> eine neutrale Beratungsstelle, an die Sie sich bei Bedarf während des Studiums wenden können?</a:t>
            </a:r>
            <a:endParaRPr lang="de-CH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7.1322080948432579E-2"/>
          <c:y val="0.16778643843849583"/>
          <c:w val="0.91161005792716832"/>
          <c:h val="0.656877888815409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gar nicht wichtig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0E-46E9-8C59-4E66ACFA30A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nicht wichtig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0E-46E9-8C59-4E66ACFA30A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wichtig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A5-4A19-BDA6-8729D82EFF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0E-46E9-8C59-4E66ACFA30AE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sehr wichtig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0E-46E9-8C59-4E66ACFA30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03021599"/>
        <c:axId val="1103016799"/>
      </c:barChart>
      <c:catAx>
        <c:axId val="11030215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03016799"/>
        <c:crosses val="autoZero"/>
        <c:auto val="1"/>
        <c:lblAlgn val="ctr"/>
        <c:lblOffset val="100"/>
        <c:noMultiLvlLbl val="0"/>
      </c:catAx>
      <c:valAx>
        <c:axId val="1103016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Prozent</a:t>
                </a:r>
                <a:endParaRPr lang="de-CH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0302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7391629478815838E-2"/>
          <c:y val="0.87317964310972407"/>
          <c:w val="0.89613211184017982"/>
          <c:h val="0.114254912692919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Zu</a:t>
            </a:r>
            <a:r>
              <a:rPr lang="de-DE" baseline="0"/>
              <a:t> welchen Themen fänden Sie ein Beratungs- oder Unterstützungsangebot wichtig?</a:t>
            </a:r>
            <a:endParaRPr lang="de-CH"/>
          </a:p>
        </c:rich>
      </c:tx>
      <c:layout>
        <c:manualLayout>
          <c:xMode val="edge"/>
          <c:yMode val="edge"/>
          <c:x val="0.10576970113068293"/>
          <c:y val="2.555635891511445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Psychische Belastung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D6-4A79-BDBF-90AF076CE2C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Studienorganisatorische Kompetenzen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D6-4A79-BDBF-90AF076CE2C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Stressmanagement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D6-4A79-BDBF-90AF076CE2CC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Laufbahnplanung/Karriere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D6-4A79-BDBF-90AF076CE2CC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Job/Bewerbung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Tabelle1!$F$2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D6-4A79-BDBF-90AF076CE2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04087311"/>
        <c:axId val="1904087791"/>
      </c:barChart>
      <c:catAx>
        <c:axId val="19040873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04087791"/>
        <c:crosses val="autoZero"/>
        <c:auto val="1"/>
        <c:lblAlgn val="ctr"/>
        <c:lblOffset val="100"/>
        <c:noMultiLvlLbl val="0"/>
      </c:catAx>
      <c:valAx>
        <c:axId val="1904087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Prozent</a:t>
                </a:r>
                <a:endParaRPr lang="de-CH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04087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In</a:t>
            </a:r>
            <a:r>
              <a:rPr lang="de-DE" baseline="0"/>
              <a:t> welcher Form (Format) würden Sie sich die Beratung bzw. Unterstützung während dem Studium wünschen? </a:t>
            </a:r>
            <a:endParaRPr lang="de-CH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Workshop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1-4C0F-A007-A8A1A9A9B10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Info zur Selbsthilfe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C1-4C0F-A007-A8A1A9A9B10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individuelle Beratung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C1-4C0F-A007-A8A1A9A9B10F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Event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DC1-4C0F-A007-A8A1A9A9B1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05409759"/>
        <c:axId val="1905406879"/>
      </c:barChart>
      <c:catAx>
        <c:axId val="19054097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05406879"/>
        <c:crosses val="autoZero"/>
        <c:auto val="1"/>
        <c:lblAlgn val="ctr"/>
        <c:lblOffset val="100"/>
        <c:noMultiLvlLbl val="0"/>
      </c:catAx>
      <c:valAx>
        <c:axId val="1905406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Prozent</a:t>
                </a:r>
                <a:endParaRPr lang="de-CH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05409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183396593916765"/>
          <c:y val="0.92725289258344956"/>
          <c:w val="0.64332101507623685"/>
          <c:h val="5.62536187731398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1B296F-E5CA-486E-B51F-2CB4A876C8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99D541-9329-40A3-8E7C-B4D7D2D77F16}">
      <dgm:prSet/>
      <dgm:spPr/>
      <dgm:t>
        <a:bodyPr/>
        <a:lstStyle/>
        <a:p>
          <a:r>
            <a:rPr lang="de-CH"/>
            <a:t>Die FFHS weist im Vergleich zu den anderen eidgenössischen Fachhochschulen sowohl eine geringere Anzahl an Formaten als auch weniger Beratungsthemen bezüglich des Beratungsangebot für Studierende auf.</a:t>
          </a:r>
          <a:endParaRPr lang="en-US"/>
        </a:p>
      </dgm:t>
    </dgm:pt>
    <dgm:pt modelId="{D32F8847-E066-492F-A451-8AF5A89AC118}" type="parTrans" cxnId="{4EBA2326-2B6D-43B7-B11E-8438381F03EA}">
      <dgm:prSet/>
      <dgm:spPr/>
      <dgm:t>
        <a:bodyPr/>
        <a:lstStyle/>
        <a:p>
          <a:endParaRPr lang="en-US"/>
        </a:p>
      </dgm:t>
    </dgm:pt>
    <dgm:pt modelId="{68FB18B8-1D6A-4EC6-A9C5-2CB393DE0641}" type="sibTrans" cxnId="{4EBA2326-2B6D-43B7-B11E-8438381F03EA}">
      <dgm:prSet/>
      <dgm:spPr/>
      <dgm:t>
        <a:bodyPr/>
        <a:lstStyle/>
        <a:p>
          <a:endParaRPr lang="en-US"/>
        </a:p>
      </dgm:t>
    </dgm:pt>
    <dgm:pt modelId="{2CA000B3-EE56-4F06-97F5-151F6EF6034F}">
      <dgm:prSet/>
      <dgm:spPr/>
      <dgm:t>
        <a:bodyPr/>
        <a:lstStyle/>
        <a:p>
          <a:r>
            <a:rPr lang="de-CH" dirty="0"/>
            <a:t>Grössere Fachhochschulen weisen tendenziell ein breiteres Beratungsangebot an. Dennoch bieten auch kleinere Fachhochschulen wie die FH Graubünden ein grösseres Beratungsangebot für Studierende im Vergleich zur FFHS. </a:t>
          </a:r>
          <a:endParaRPr lang="en-US" dirty="0"/>
        </a:p>
      </dgm:t>
    </dgm:pt>
    <dgm:pt modelId="{13AA50CD-B299-459E-9AD2-5E3A20D9C829}" type="parTrans" cxnId="{6D0C4ECB-9C77-4C71-B893-FEB530136ABC}">
      <dgm:prSet/>
      <dgm:spPr/>
      <dgm:t>
        <a:bodyPr/>
        <a:lstStyle/>
        <a:p>
          <a:endParaRPr lang="en-US"/>
        </a:p>
      </dgm:t>
    </dgm:pt>
    <dgm:pt modelId="{C38DB164-6354-4686-85E0-24D7D106C83C}" type="sibTrans" cxnId="{6D0C4ECB-9C77-4C71-B893-FEB530136ABC}">
      <dgm:prSet/>
      <dgm:spPr/>
      <dgm:t>
        <a:bodyPr/>
        <a:lstStyle/>
        <a:p>
          <a:endParaRPr lang="en-US"/>
        </a:p>
      </dgm:t>
    </dgm:pt>
    <dgm:pt modelId="{86F81D1A-411A-4547-B99E-D5A7C525C8E8}">
      <dgm:prSet/>
      <dgm:spPr/>
      <dgm:t>
        <a:bodyPr/>
        <a:lstStyle/>
        <a:p>
          <a:r>
            <a:rPr lang="de-CH"/>
            <a:t>Das häufigste </a:t>
          </a:r>
          <a:r>
            <a:rPr lang="de-CH" b="1"/>
            <a:t>Beratungsformat</a:t>
          </a:r>
          <a:r>
            <a:rPr lang="de-CH"/>
            <a:t> ist nebst der </a:t>
          </a:r>
          <a:r>
            <a:rPr lang="de-CH" b="1"/>
            <a:t>Info zur Selbsthilfe, </a:t>
          </a:r>
          <a:r>
            <a:rPr lang="de-CH"/>
            <a:t>die </a:t>
          </a:r>
          <a:r>
            <a:rPr lang="de-CH" b="1"/>
            <a:t>individuelle Beratung </a:t>
          </a:r>
          <a:r>
            <a:rPr lang="de-CH"/>
            <a:t>für Studierende. Dieses Format wird an allen Fachhochschulen mit Ausnahme der FFHS angeboten. </a:t>
          </a:r>
          <a:endParaRPr lang="en-US"/>
        </a:p>
      </dgm:t>
    </dgm:pt>
    <dgm:pt modelId="{AA1DF238-CA64-4B74-AFB6-F9368EC59833}" type="parTrans" cxnId="{D1BC1B33-B979-43FA-884B-77A0962C1518}">
      <dgm:prSet/>
      <dgm:spPr/>
      <dgm:t>
        <a:bodyPr/>
        <a:lstStyle/>
        <a:p>
          <a:endParaRPr lang="en-US"/>
        </a:p>
      </dgm:t>
    </dgm:pt>
    <dgm:pt modelId="{1E47CC76-186B-40CA-B075-29C5B125DC86}" type="sibTrans" cxnId="{D1BC1B33-B979-43FA-884B-77A0962C1518}">
      <dgm:prSet/>
      <dgm:spPr/>
      <dgm:t>
        <a:bodyPr/>
        <a:lstStyle/>
        <a:p>
          <a:endParaRPr lang="en-US"/>
        </a:p>
      </dgm:t>
    </dgm:pt>
    <dgm:pt modelId="{973E0AB6-B3E0-43B4-BCAE-E1BAAC7CD025}">
      <dgm:prSet/>
      <dgm:spPr/>
      <dgm:t>
        <a:bodyPr/>
        <a:lstStyle/>
        <a:p>
          <a:r>
            <a:rPr lang="de-CH"/>
            <a:t>Bei den </a:t>
          </a:r>
          <a:r>
            <a:rPr lang="de-CH" b="1"/>
            <a:t>Beratungsthemen</a:t>
          </a:r>
          <a:r>
            <a:rPr lang="de-CH"/>
            <a:t> ist die </a:t>
          </a:r>
          <a:r>
            <a:rPr lang="de-CH" b="1"/>
            <a:t>«Laufbahnberatung», </a:t>
          </a:r>
          <a:r>
            <a:rPr lang="de-CH"/>
            <a:t>gefolgt von </a:t>
          </a:r>
          <a:r>
            <a:rPr lang="de-CH" b="1"/>
            <a:t>«Bewerbung» </a:t>
          </a:r>
          <a:r>
            <a:rPr lang="de-CH"/>
            <a:t>und </a:t>
          </a:r>
          <a:r>
            <a:rPr lang="de-CH" b="1"/>
            <a:t>«psychische Belastungen» </a:t>
          </a:r>
          <a:r>
            <a:rPr lang="de-CH"/>
            <a:t>das häufigste Thema. </a:t>
          </a:r>
          <a:endParaRPr lang="en-US"/>
        </a:p>
      </dgm:t>
    </dgm:pt>
    <dgm:pt modelId="{920C048C-3CE7-450A-86FC-64B8A27F63A7}" type="parTrans" cxnId="{30EC28B4-AF57-4D24-913E-6F9BAE7466BB}">
      <dgm:prSet/>
      <dgm:spPr/>
      <dgm:t>
        <a:bodyPr/>
        <a:lstStyle/>
        <a:p>
          <a:endParaRPr lang="en-US"/>
        </a:p>
      </dgm:t>
    </dgm:pt>
    <dgm:pt modelId="{8F59E8C9-1C7C-491F-9C1F-67ACEC216C04}" type="sibTrans" cxnId="{30EC28B4-AF57-4D24-913E-6F9BAE7466BB}">
      <dgm:prSet/>
      <dgm:spPr/>
      <dgm:t>
        <a:bodyPr/>
        <a:lstStyle/>
        <a:p>
          <a:endParaRPr lang="en-US"/>
        </a:p>
      </dgm:t>
    </dgm:pt>
    <dgm:pt modelId="{7989BD28-8193-4037-85D6-2033C30B0A30}">
      <dgm:prSet/>
      <dgm:spPr/>
      <dgm:t>
        <a:bodyPr/>
        <a:lstStyle/>
        <a:p>
          <a:r>
            <a:rPr lang="de-CH" dirty="0"/>
            <a:t>Die Ergebnisse der Konkurrenzanalyse wurden auch mit dem Beratungsangebot von Schulen aus dem deutschsprachigen Ausland verglichen, damit eine noch breitere Abstützung der Ergebnisse vorliegt.</a:t>
          </a:r>
          <a:endParaRPr lang="en-US" dirty="0"/>
        </a:p>
      </dgm:t>
    </dgm:pt>
    <dgm:pt modelId="{7D6B7DCF-FE45-45BD-82F7-3481865FF6FE}" type="parTrans" cxnId="{5F5D321B-F1E2-4FB9-AA6D-0511DECAD77E}">
      <dgm:prSet/>
      <dgm:spPr/>
      <dgm:t>
        <a:bodyPr/>
        <a:lstStyle/>
        <a:p>
          <a:endParaRPr lang="en-US"/>
        </a:p>
      </dgm:t>
    </dgm:pt>
    <dgm:pt modelId="{9BEED887-D5AD-4C7D-A36E-31A2C45DDA09}" type="sibTrans" cxnId="{5F5D321B-F1E2-4FB9-AA6D-0511DECAD77E}">
      <dgm:prSet/>
      <dgm:spPr/>
      <dgm:t>
        <a:bodyPr/>
        <a:lstStyle/>
        <a:p>
          <a:endParaRPr lang="en-US"/>
        </a:p>
      </dgm:t>
    </dgm:pt>
    <dgm:pt modelId="{82BC9EDD-030B-4511-BC94-D75CD4498472}" type="pres">
      <dgm:prSet presAssocID="{631B296F-E5CA-486E-B51F-2CB4A876C84F}" presName="linear" presStyleCnt="0">
        <dgm:presLayoutVars>
          <dgm:animLvl val="lvl"/>
          <dgm:resizeHandles val="exact"/>
        </dgm:presLayoutVars>
      </dgm:prSet>
      <dgm:spPr/>
    </dgm:pt>
    <dgm:pt modelId="{450170D8-E879-4501-9A31-B64C01700E04}" type="pres">
      <dgm:prSet presAssocID="{BE99D541-9329-40A3-8E7C-B4D7D2D77F1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39DE508-2DFA-41FE-BCEF-48447A3FD9A5}" type="pres">
      <dgm:prSet presAssocID="{68FB18B8-1D6A-4EC6-A9C5-2CB393DE0641}" presName="spacer" presStyleCnt="0"/>
      <dgm:spPr/>
    </dgm:pt>
    <dgm:pt modelId="{0581E2D7-0005-42A0-B099-88DA72E43B40}" type="pres">
      <dgm:prSet presAssocID="{2CA000B3-EE56-4F06-97F5-151F6EF6034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649459B-0208-4D62-A7CA-A5389F32D622}" type="pres">
      <dgm:prSet presAssocID="{C38DB164-6354-4686-85E0-24D7D106C83C}" presName="spacer" presStyleCnt="0"/>
      <dgm:spPr/>
    </dgm:pt>
    <dgm:pt modelId="{EFB1364B-125A-4EAE-938D-93E636BDD002}" type="pres">
      <dgm:prSet presAssocID="{86F81D1A-411A-4547-B99E-D5A7C525C8E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1B4D67-525D-4368-A079-B1536B64596B}" type="pres">
      <dgm:prSet presAssocID="{1E47CC76-186B-40CA-B075-29C5B125DC86}" presName="spacer" presStyleCnt="0"/>
      <dgm:spPr/>
    </dgm:pt>
    <dgm:pt modelId="{7C8E76C4-0C80-4681-85A7-CAFB1020BC54}" type="pres">
      <dgm:prSet presAssocID="{973E0AB6-B3E0-43B4-BCAE-E1BAAC7CD02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D21335A-1B69-42D9-A063-F0F6F2C7AA8D}" type="pres">
      <dgm:prSet presAssocID="{8F59E8C9-1C7C-491F-9C1F-67ACEC216C04}" presName="spacer" presStyleCnt="0"/>
      <dgm:spPr/>
    </dgm:pt>
    <dgm:pt modelId="{6BB7BE46-C3BB-451F-BED2-8C3328B1D250}" type="pres">
      <dgm:prSet presAssocID="{7989BD28-8193-4037-85D6-2033C30B0A3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0D02300-7304-420A-8C04-AB1619661626}" type="presOf" srcId="{973E0AB6-B3E0-43B4-BCAE-E1BAAC7CD025}" destId="{7C8E76C4-0C80-4681-85A7-CAFB1020BC54}" srcOrd="0" destOrd="0" presId="urn:microsoft.com/office/officeart/2005/8/layout/vList2"/>
    <dgm:cxn modelId="{9F241C09-1DCE-4454-AC6F-8328493DFA9B}" type="presOf" srcId="{631B296F-E5CA-486E-B51F-2CB4A876C84F}" destId="{82BC9EDD-030B-4511-BC94-D75CD4498472}" srcOrd="0" destOrd="0" presId="urn:microsoft.com/office/officeart/2005/8/layout/vList2"/>
    <dgm:cxn modelId="{5F5D321B-F1E2-4FB9-AA6D-0511DECAD77E}" srcId="{631B296F-E5CA-486E-B51F-2CB4A876C84F}" destId="{7989BD28-8193-4037-85D6-2033C30B0A30}" srcOrd="4" destOrd="0" parTransId="{7D6B7DCF-FE45-45BD-82F7-3481865FF6FE}" sibTransId="{9BEED887-D5AD-4C7D-A36E-31A2C45DDA09}"/>
    <dgm:cxn modelId="{4EBA2326-2B6D-43B7-B11E-8438381F03EA}" srcId="{631B296F-E5CA-486E-B51F-2CB4A876C84F}" destId="{BE99D541-9329-40A3-8E7C-B4D7D2D77F16}" srcOrd="0" destOrd="0" parTransId="{D32F8847-E066-492F-A451-8AF5A89AC118}" sibTransId="{68FB18B8-1D6A-4EC6-A9C5-2CB393DE0641}"/>
    <dgm:cxn modelId="{D1BC1B33-B979-43FA-884B-77A0962C1518}" srcId="{631B296F-E5CA-486E-B51F-2CB4A876C84F}" destId="{86F81D1A-411A-4547-B99E-D5A7C525C8E8}" srcOrd="2" destOrd="0" parTransId="{AA1DF238-CA64-4B74-AFB6-F9368EC59833}" sibTransId="{1E47CC76-186B-40CA-B075-29C5B125DC86}"/>
    <dgm:cxn modelId="{C625FD39-8311-4659-9AA1-EF92D0A4F14D}" type="presOf" srcId="{2CA000B3-EE56-4F06-97F5-151F6EF6034F}" destId="{0581E2D7-0005-42A0-B099-88DA72E43B40}" srcOrd="0" destOrd="0" presId="urn:microsoft.com/office/officeart/2005/8/layout/vList2"/>
    <dgm:cxn modelId="{30EC28B4-AF57-4D24-913E-6F9BAE7466BB}" srcId="{631B296F-E5CA-486E-B51F-2CB4A876C84F}" destId="{973E0AB6-B3E0-43B4-BCAE-E1BAAC7CD025}" srcOrd="3" destOrd="0" parTransId="{920C048C-3CE7-450A-86FC-64B8A27F63A7}" sibTransId="{8F59E8C9-1C7C-491F-9C1F-67ACEC216C04}"/>
    <dgm:cxn modelId="{50584CBB-86D2-4E81-A379-400C17FD3716}" type="presOf" srcId="{7989BD28-8193-4037-85D6-2033C30B0A30}" destId="{6BB7BE46-C3BB-451F-BED2-8C3328B1D250}" srcOrd="0" destOrd="0" presId="urn:microsoft.com/office/officeart/2005/8/layout/vList2"/>
    <dgm:cxn modelId="{B551B7C1-2F72-4044-80B8-F759490A0A29}" type="presOf" srcId="{BE99D541-9329-40A3-8E7C-B4D7D2D77F16}" destId="{450170D8-E879-4501-9A31-B64C01700E04}" srcOrd="0" destOrd="0" presId="urn:microsoft.com/office/officeart/2005/8/layout/vList2"/>
    <dgm:cxn modelId="{6D0C4ECB-9C77-4C71-B893-FEB530136ABC}" srcId="{631B296F-E5CA-486E-B51F-2CB4A876C84F}" destId="{2CA000B3-EE56-4F06-97F5-151F6EF6034F}" srcOrd="1" destOrd="0" parTransId="{13AA50CD-B299-459E-9AD2-5E3A20D9C829}" sibTransId="{C38DB164-6354-4686-85E0-24D7D106C83C}"/>
    <dgm:cxn modelId="{FE24DDF1-76BB-49A9-A001-01D1712A3639}" type="presOf" srcId="{86F81D1A-411A-4547-B99E-D5A7C525C8E8}" destId="{EFB1364B-125A-4EAE-938D-93E636BDD002}" srcOrd="0" destOrd="0" presId="urn:microsoft.com/office/officeart/2005/8/layout/vList2"/>
    <dgm:cxn modelId="{E20C976C-81F5-4967-BDA2-99EB5FA17A54}" type="presParOf" srcId="{82BC9EDD-030B-4511-BC94-D75CD4498472}" destId="{450170D8-E879-4501-9A31-B64C01700E04}" srcOrd="0" destOrd="0" presId="urn:microsoft.com/office/officeart/2005/8/layout/vList2"/>
    <dgm:cxn modelId="{1A3D9D81-A341-4142-959E-4AF72C2F10EE}" type="presParOf" srcId="{82BC9EDD-030B-4511-BC94-D75CD4498472}" destId="{939DE508-2DFA-41FE-BCEF-48447A3FD9A5}" srcOrd="1" destOrd="0" presId="urn:microsoft.com/office/officeart/2005/8/layout/vList2"/>
    <dgm:cxn modelId="{884218DD-B5A4-4FDD-903A-CF450D0A495B}" type="presParOf" srcId="{82BC9EDD-030B-4511-BC94-D75CD4498472}" destId="{0581E2D7-0005-42A0-B099-88DA72E43B40}" srcOrd="2" destOrd="0" presId="urn:microsoft.com/office/officeart/2005/8/layout/vList2"/>
    <dgm:cxn modelId="{39AA77C1-41B0-4161-BAF8-80295165917D}" type="presParOf" srcId="{82BC9EDD-030B-4511-BC94-D75CD4498472}" destId="{C649459B-0208-4D62-A7CA-A5389F32D622}" srcOrd="3" destOrd="0" presId="urn:microsoft.com/office/officeart/2005/8/layout/vList2"/>
    <dgm:cxn modelId="{4B28B4DE-3CD1-4D5F-836D-F46D1B56184B}" type="presParOf" srcId="{82BC9EDD-030B-4511-BC94-D75CD4498472}" destId="{EFB1364B-125A-4EAE-938D-93E636BDD002}" srcOrd="4" destOrd="0" presId="urn:microsoft.com/office/officeart/2005/8/layout/vList2"/>
    <dgm:cxn modelId="{E51BA6DC-0D7C-4FA2-BED7-E514D77A0E87}" type="presParOf" srcId="{82BC9EDD-030B-4511-BC94-D75CD4498472}" destId="{651B4D67-525D-4368-A079-B1536B64596B}" srcOrd="5" destOrd="0" presId="urn:microsoft.com/office/officeart/2005/8/layout/vList2"/>
    <dgm:cxn modelId="{841DEDCE-F9FD-44FE-BC42-6211087C8ADF}" type="presParOf" srcId="{82BC9EDD-030B-4511-BC94-D75CD4498472}" destId="{7C8E76C4-0C80-4681-85A7-CAFB1020BC54}" srcOrd="6" destOrd="0" presId="urn:microsoft.com/office/officeart/2005/8/layout/vList2"/>
    <dgm:cxn modelId="{A3DAA16C-4029-4A71-A8E0-477CCB454D07}" type="presParOf" srcId="{82BC9EDD-030B-4511-BC94-D75CD4498472}" destId="{7D21335A-1B69-42D9-A063-F0F6F2C7AA8D}" srcOrd="7" destOrd="0" presId="urn:microsoft.com/office/officeart/2005/8/layout/vList2"/>
    <dgm:cxn modelId="{FA806042-388C-4F06-B52A-172CA7C168ED}" type="presParOf" srcId="{82BC9EDD-030B-4511-BC94-D75CD4498472}" destId="{6BB7BE46-C3BB-451F-BED2-8C3328B1D25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1B296F-E5CA-486E-B51F-2CB4A876C8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99D541-9329-40A3-8E7C-B4D7D2D77F16}">
      <dgm:prSet/>
      <dgm:spPr/>
      <dgm:t>
        <a:bodyPr/>
        <a:lstStyle/>
        <a:p>
          <a:r>
            <a:rPr lang="en-US"/>
            <a:t>Die </a:t>
          </a:r>
          <a:r>
            <a:rPr lang="en-US" err="1"/>
            <a:t>meisten</a:t>
          </a:r>
          <a:r>
            <a:rPr lang="en-US"/>
            <a:t> </a:t>
          </a:r>
          <a:r>
            <a:rPr lang="en-US" err="1"/>
            <a:t>Studierenden</a:t>
          </a:r>
          <a:r>
            <a:rPr lang="en-US"/>
            <a:t> </a:t>
          </a:r>
          <a:r>
            <a:rPr lang="en-US" err="1"/>
            <a:t>finden</a:t>
          </a:r>
          <a:r>
            <a:rPr lang="en-US"/>
            <a:t> </a:t>
          </a:r>
          <a:r>
            <a:rPr lang="en-US" err="1"/>
            <a:t>eine</a:t>
          </a:r>
          <a:r>
            <a:rPr lang="en-US"/>
            <a:t> </a:t>
          </a:r>
          <a:r>
            <a:rPr lang="en-US" err="1"/>
            <a:t>Beratungstelle</a:t>
          </a:r>
          <a:r>
            <a:rPr lang="en-US"/>
            <a:t> </a:t>
          </a:r>
          <a:r>
            <a:rPr lang="en-US" err="1"/>
            <a:t>während</a:t>
          </a:r>
          <a:r>
            <a:rPr lang="en-US"/>
            <a:t> des </a:t>
          </a:r>
          <a:r>
            <a:rPr lang="en-US" err="1"/>
            <a:t>Studiums</a:t>
          </a:r>
          <a:r>
            <a:rPr lang="en-US"/>
            <a:t> </a:t>
          </a:r>
          <a:r>
            <a:rPr lang="en-US" err="1"/>
            <a:t>wichtig</a:t>
          </a:r>
          <a:r>
            <a:rPr lang="en-US"/>
            <a:t> bis </a:t>
          </a:r>
          <a:r>
            <a:rPr lang="en-US" err="1"/>
            <a:t>sehr</a:t>
          </a:r>
          <a:r>
            <a:rPr lang="en-US"/>
            <a:t> </a:t>
          </a:r>
          <a:r>
            <a:rPr lang="en-US" err="1"/>
            <a:t>wichtig</a:t>
          </a:r>
          <a:r>
            <a:rPr lang="en-US"/>
            <a:t>. </a:t>
          </a:r>
        </a:p>
      </dgm:t>
    </dgm:pt>
    <dgm:pt modelId="{D32F8847-E066-492F-A451-8AF5A89AC118}" type="parTrans" cxnId="{4EBA2326-2B6D-43B7-B11E-8438381F03EA}">
      <dgm:prSet/>
      <dgm:spPr/>
      <dgm:t>
        <a:bodyPr/>
        <a:lstStyle/>
        <a:p>
          <a:endParaRPr lang="en-US"/>
        </a:p>
      </dgm:t>
    </dgm:pt>
    <dgm:pt modelId="{68FB18B8-1D6A-4EC6-A9C5-2CB393DE0641}" type="sibTrans" cxnId="{4EBA2326-2B6D-43B7-B11E-8438381F03EA}">
      <dgm:prSet/>
      <dgm:spPr/>
      <dgm:t>
        <a:bodyPr/>
        <a:lstStyle/>
        <a:p>
          <a:endParaRPr lang="en-US"/>
        </a:p>
      </dgm:t>
    </dgm:pt>
    <dgm:pt modelId="{2CA000B3-EE56-4F06-97F5-151F6EF6034F}">
      <dgm:prSet/>
      <dgm:spPr/>
      <dgm:t>
        <a:bodyPr/>
        <a:lstStyle/>
        <a:p>
          <a:r>
            <a:rPr lang="en-US"/>
            <a:t>FFHS-</a:t>
          </a:r>
          <a:r>
            <a:rPr lang="en-US" err="1"/>
            <a:t>Studierende</a:t>
          </a:r>
          <a:r>
            <a:rPr lang="en-US"/>
            <a:t> </a:t>
          </a:r>
          <a:r>
            <a:rPr lang="en-US" err="1"/>
            <a:t>wünschen</a:t>
          </a:r>
          <a:r>
            <a:rPr lang="en-US"/>
            <a:t> </a:t>
          </a:r>
          <a:r>
            <a:rPr lang="en-US" err="1"/>
            <a:t>sich</a:t>
          </a:r>
          <a:r>
            <a:rPr lang="en-US"/>
            <a:t> am </a:t>
          </a:r>
          <a:r>
            <a:rPr lang="en-US" err="1"/>
            <a:t>häufigsten</a:t>
          </a:r>
          <a:r>
            <a:rPr lang="en-US"/>
            <a:t> </a:t>
          </a:r>
          <a:r>
            <a:rPr lang="en-US" err="1"/>
            <a:t>Unterstützung</a:t>
          </a:r>
          <a:r>
            <a:rPr lang="en-US"/>
            <a:t> und Beratung </a:t>
          </a:r>
          <a:r>
            <a:rPr lang="en-US" err="1"/>
            <a:t>zu</a:t>
          </a:r>
          <a:r>
            <a:rPr lang="en-US"/>
            <a:t> </a:t>
          </a:r>
          <a:r>
            <a:rPr lang="en-US" err="1"/>
            <a:t>studienorganisatorischen</a:t>
          </a:r>
          <a:r>
            <a:rPr lang="en-US"/>
            <a:t> </a:t>
          </a:r>
          <a:r>
            <a:rPr lang="en-US" err="1"/>
            <a:t>Kompetenzen</a:t>
          </a:r>
          <a:r>
            <a:rPr lang="en-US"/>
            <a:t> und </a:t>
          </a:r>
          <a:r>
            <a:rPr lang="en-US" err="1"/>
            <a:t>Laufbahn</a:t>
          </a:r>
          <a:r>
            <a:rPr lang="en-US"/>
            <a:t>/</a:t>
          </a:r>
          <a:r>
            <a:rPr lang="en-US" err="1"/>
            <a:t>Karriere</a:t>
          </a:r>
          <a:r>
            <a:rPr lang="en-US"/>
            <a:t>.</a:t>
          </a:r>
        </a:p>
      </dgm:t>
    </dgm:pt>
    <dgm:pt modelId="{13AA50CD-B299-459E-9AD2-5E3A20D9C829}" type="parTrans" cxnId="{6D0C4ECB-9C77-4C71-B893-FEB530136ABC}">
      <dgm:prSet/>
      <dgm:spPr/>
      <dgm:t>
        <a:bodyPr/>
        <a:lstStyle/>
        <a:p>
          <a:endParaRPr lang="en-US"/>
        </a:p>
      </dgm:t>
    </dgm:pt>
    <dgm:pt modelId="{C38DB164-6354-4686-85E0-24D7D106C83C}" type="sibTrans" cxnId="{6D0C4ECB-9C77-4C71-B893-FEB530136ABC}">
      <dgm:prSet/>
      <dgm:spPr/>
      <dgm:t>
        <a:bodyPr/>
        <a:lstStyle/>
        <a:p>
          <a:endParaRPr lang="en-US"/>
        </a:p>
      </dgm:t>
    </dgm:pt>
    <dgm:pt modelId="{86F81D1A-411A-4547-B99E-D5A7C525C8E8}">
      <dgm:prSet/>
      <dgm:spPr/>
      <dgm:t>
        <a:bodyPr/>
        <a:lstStyle/>
        <a:p>
          <a:r>
            <a:rPr lang="en-US"/>
            <a:t>Die </a:t>
          </a:r>
          <a:r>
            <a:rPr lang="en-US" err="1"/>
            <a:t>individuelle</a:t>
          </a:r>
          <a:r>
            <a:rPr lang="en-US"/>
            <a:t> Beratung </a:t>
          </a:r>
          <a:r>
            <a:rPr lang="en-US" err="1"/>
            <a:t>wird</a:t>
          </a:r>
          <a:r>
            <a:rPr lang="en-US"/>
            <a:t> </a:t>
          </a:r>
          <a:r>
            <a:rPr lang="en-US" err="1"/>
            <a:t>im</a:t>
          </a:r>
          <a:r>
            <a:rPr lang="en-US"/>
            <a:t> </a:t>
          </a:r>
          <a:r>
            <a:rPr lang="en-US" err="1"/>
            <a:t>Vergleich</a:t>
          </a:r>
          <a:r>
            <a:rPr lang="en-US"/>
            <a:t> </a:t>
          </a:r>
          <a:r>
            <a:rPr lang="en-US" err="1"/>
            <a:t>zu</a:t>
          </a:r>
          <a:r>
            <a:rPr lang="en-US"/>
            <a:t> </a:t>
          </a:r>
          <a:r>
            <a:rPr lang="en-US" err="1"/>
            <a:t>anderen</a:t>
          </a:r>
          <a:r>
            <a:rPr lang="en-US"/>
            <a:t> </a:t>
          </a:r>
          <a:r>
            <a:rPr lang="en-US" err="1"/>
            <a:t>Formaten</a:t>
          </a:r>
          <a:r>
            <a:rPr lang="en-US"/>
            <a:t> </a:t>
          </a:r>
          <a:r>
            <a:rPr lang="en-US" err="1"/>
            <a:t>wie</a:t>
          </a:r>
          <a:r>
            <a:rPr lang="en-US"/>
            <a:t> Workshops </a:t>
          </a:r>
          <a:r>
            <a:rPr lang="en-US" err="1"/>
            <a:t>oder</a:t>
          </a:r>
          <a:r>
            <a:rPr lang="en-US"/>
            <a:t> Events </a:t>
          </a:r>
          <a:r>
            <a:rPr lang="en-US" err="1"/>
            <a:t>bevorzugt</a:t>
          </a:r>
          <a:r>
            <a:rPr lang="en-US"/>
            <a:t>.</a:t>
          </a:r>
        </a:p>
      </dgm:t>
    </dgm:pt>
    <dgm:pt modelId="{AA1DF238-CA64-4B74-AFB6-F9368EC59833}" type="parTrans" cxnId="{D1BC1B33-B979-43FA-884B-77A0962C1518}">
      <dgm:prSet/>
      <dgm:spPr/>
      <dgm:t>
        <a:bodyPr/>
        <a:lstStyle/>
        <a:p>
          <a:endParaRPr lang="en-US"/>
        </a:p>
      </dgm:t>
    </dgm:pt>
    <dgm:pt modelId="{1E47CC76-186B-40CA-B075-29C5B125DC86}" type="sibTrans" cxnId="{D1BC1B33-B979-43FA-884B-77A0962C1518}">
      <dgm:prSet/>
      <dgm:spPr/>
      <dgm:t>
        <a:bodyPr/>
        <a:lstStyle/>
        <a:p>
          <a:endParaRPr lang="en-US"/>
        </a:p>
      </dgm:t>
    </dgm:pt>
    <dgm:pt modelId="{82BC9EDD-030B-4511-BC94-D75CD4498472}" type="pres">
      <dgm:prSet presAssocID="{631B296F-E5CA-486E-B51F-2CB4A876C84F}" presName="linear" presStyleCnt="0">
        <dgm:presLayoutVars>
          <dgm:animLvl val="lvl"/>
          <dgm:resizeHandles val="exact"/>
        </dgm:presLayoutVars>
      </dgm:prSet>
      <dgm:spPr/>
    </dgm:pt>
    <dgm:pt modelId="{450170D8-E879-4501-9A31-B64C01700E04}" type="pres">
      <dgm:prSet presAssocID="{BE99D541-9329-40A3-8E7C-B4D7D2D77F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9DE508-2DFA-41FE-BCEF-48447A3FD9A5}" type="pres">
      <dgm:prSet presAssocID="{68FB18B8-1D6A-4EC6-A9C5-2CB393DE0641}" presName="spacer" presStyleCnt="0"/>
      <dgm:spPr/>
    </dgm:pt>
    <dgm:pt modelId="{0581E2D7-0005-42A0-B099-88DA72E43B40}" type="pres">
      <dgm:prSet presAssocID="{2CA000B3-EE56-4F06-97F5-151F6EF603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49459B-0208-4D62-A7CA-A5389F32D622}" type="pres">
      <dgm:prSet presAssocID="{C38DB164-6354-4686-85E0-24D7D106C83C}" presName="spacer" presStyleCnt="0"/>
      <dgm:spPr/>
    </dgm:pt>
    <dgm:pt modelId="{EFB1364B-125A-4EAE-938D-93E636BDD002}" type="pres">
      <dgm:prSet presAssocID="{86F81D1A-411A-4547-B99E-D5A7C525C8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F241C09-1DCE-4454-AC6F-8328493DFA9B}" type="presOf" srcId="{631B296F-E5CA-486E-B51F-2CB4A876C84F}" destId="{82BC9EDD-030B-4511-BC94-D75CD4498472}" srcOrd="0" destOrd="0" presId="urn:microsoft.com/office/officeart/2005/8/layout/vList2"/>
    <dgm:cxn modelId="{4EBA2326-2B6D-43B7-B11E-8438381F03EA}" srcId="{631B296F-E5CA-486E-B51F-2CB4A876C84F}" destId="{BE99D541-9329-40A3-8E7C-B4D7D2D77F16}" srcOrd="0" destOrd="0" parTransId="{D32F8847-E066-492F-A451-8AF5A89AC118}" sibTransId="{68FB18B8-1D6A-4EC6-A9C5-2CB393DE0641}"/>
    <dgm:cxn modelId="{D1BC1B33-B979-43FA-884B-77A0962C1518}" srcId="{631B296F-E5CA-486E-B51F-2CB4A876C84F}" destId="{86F81D1A-411A-4547-B99E-D5A7C525C8E8}" srcOrd="2" destOrd="0" parTransId="{AA1DF238-CA64-4B74-AFB6-F9368EC59833}" sibTransId="{1E47CC76-186B-40CA-B075-29C5B125DC86}"/>
    <dgm:cxn modelId="{C625FD39-8311-4659-9AA1-EF92D0A4F14D}" type="presOf" srcId="{2CA000B3-EE56-4F06-97F5-151F6EF6034F}" destId="{0581E2D7-0005-42A0-B099-88DA72E43B40}" srcOrd="0" destOrd="0" presId="urn:microsoft.com/office/officeart/2005/8/layout/vList2"/>
    <dgm:cxn modelId="{B551B7C1-2F72-4044-80B8-F759490A0A29}" type="presOf" srcId="{BE99D541-9329-40A3-8E7C-B4D7D2D77F16}" destId="{450170D8-E879-4501-9A31-B64C01700E04}" srcOrd="0" destOrd="0" presId="urn:microsoft.com/office/officeart/2005/8/layout/vList2"/>
    <dgm:cxn modelId="{6D0C4ECB-9C77-4C71-B893-FEB530136ABC}" srcId="{631B296F-E5CA-486E-B51F-2CB4A876C84F}" destId="{2CA000B3-EE56-4F06-97F5-151F6EF6034F}" srcOrd="1" destOrd="0" parTransId="{13AA50CD-B299-459E-9AD2-5E3A20D9C829}" sibTransId="{C38DB164-6354-4686-85E0-24D7D106C83C}"/>
    <dgm:cxn modelId="{FE24DDF1-76BB-49A9-A001-01D1712A3639}" type="presOf" srcId="{86F81D1A-411A-4547-B99E-D5A7C525C8E8}" destId="{EFB1364B-125A-4EAE-938D-93E636BDD002}" srcOrd="0" destOrd="0" presId="urn:microsoft.com/office/officeart/2005/8/layout/vList2"/>
    <dgm:cxn modelId="{E20C976C-81F5-4967-BDA2-99EB5FA17A54}" type="presParOf" srcId="{82BC9EDD-030B-4511-BC94-D75CD4498472}" destId="{450170D8-E879-4501-9A31-B64C01700E04}" srcOrd="0" destOrd="0" presId="urn:microsoft.com/office/officeart/2005/8/layout/vList2"/>
    <dgm:cxn modelId="{1A3D9D81-A341-4142-959E-4AF72C2F10EE}" type="presParOf" srcId="{82BC9EDD-030B-4511-BC94-D75CD4498472}" destId="{939DE508-2DFA-41FE-BCEF-48447A3FD9A5}" srcOrd="1" destOrd="0" presId="urn:microsoft.com/office/officeart/2005/8/layout/vList2"/>
    <dgm:cxn modelId="{884218DD-B5A4-4FDD-903A-CF450D0A495B}" type="presParOf" srcId="{82BC9EDD-030B-4511-BC94-D75CD4498472}" destId="{0581E2D7-0005-42A0-B099-88DA72E43B40}" srcOrd="2" destOrd="0" presId="urn:microsoft.com/office/officeart/2005/8/layout/vList2"/>
    <dgm:cxn modelId="{39AA77C1-41B0-4161-BAF8-80295165917D}" type="presParOf" srcId="{82BC9EDD-030B-4511-BC94-D75CD4498472}" destId="{C649459B-0208-4D62-A7CA-A5389F32D622}" srcOrd="3" destOrd="0" presId="urn:microsoft.com/office/officeart/2005/8/layout/vList2"/>
    <dgm:cxn modelId="{4B28B4DE-3CD1-4D5F-836D-F46D1B56184B}" type="presParOf" srcId="{82BC9EDD-030B-4511-BC94-D75CD4498472}" destId="{EFB1364B-125A-4EAE-938D-93E636BDD00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170D8-E879-4501-9A31-B64C01700E04}">
      <dsp:nvSpPr>
        <dsp:cNvPr id="0" name=""/>
        <dsp:cNvSpPr/>
      </dsp:nvSpPr>
      <dsp:spPr>
        <a:xfrm>
          <a:off x="0" y="63202"/>
          <a:ext cx="4828172" cy="10705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Die FFHS weist im Vergleich zu den anderen eidgenössischen Fachhochschulen sowohl eine geringere Anzahl an Formaten als auch weniger Beratungsthemen bezüglich des Beratungsangebot für Studierende auf.</a:t>
          </a:r>
          <a:endParaRPr lang="en-US" sz="1500" kern="1200"/>
        </a:p>
      </dsp:txBody>
      <dsp:txXfrm>
        <a:off x="52260" y="115462"/>
        <a:ext cx="4723652" cy="966030"/>
      </dsp:txXfrm>
    </dsp:sp>
    <dsp:sp modelId="{0581E2D7-0005-42A0-B099-88DA72E43B40}">
      <dsp:nvSpPr>
        <dsp:cNvPr id="0" name=""/>
        <dsp:cNvSpPr/>
      </dsp:nvSpPr>
      <dsp:spPr>
        <a:xfrm>
          <a:off x="0" y="1176952"/>
          <a:ext cx="4828172" cy="1070550"/>
        </a:xfrm>
        <a:prstGeom prst="roundRect">
          <a:avLst/>
        </a:prstGeom>
        <a:solidFill>
          <a:schemeClr val="accent2">
            <a:hueOff val="-368335"/>
            <a:satOff val="3851"/>
            <a:lumOff val="-34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/>
            <a:t>Grössere Fachhochschulen weisen tendenziell ein breiteres Beratungsangebot an. Dennoch bieten auch kleinere Fachhochschulen wie die FH Graubünden ein grösseres Beratungsangebot für Studierende im Vergleich zur FFHS. </a:t>
          </a:r>
          <a:endParaRPr lang="en-US" sz="1500" kern="1200" dirty="0"/>
        </a:p>
      </dsp:txBody>
      <dsp:txXfrm>
        <a:off x="52260" y="1229212"/>
        <a:ext cx="4723652" cy="966030"/>
      </dsp:txXfrm>
    </dsp:sp>
    <dsp:sp modelId="{EFB1364B-125A-4EAE-938D-93E636BDD002}">
      <dsp:nvSpPr>
        <dsp:cNvPr id="0" name=""/>
        <dsp:cNvSpPr/>
      </dsp:nvSpPr>
      <dsp:spPr>
        <a:xfrm>
          <a:off x="0" y="2290702"/>
          <a:ext cx="4828172" cy="1070550"/>
        </a:xfrm>
        <a:prstGeom prst="roundRect">
          <a:avLst/>
        </a:prstGeom>
        <a:solidFill>
          <a:schemeClr val="accent2">
            <a:hueOff val="-736669"/>
            <a:satOff val="7702"/>
            <a:lumOff val="-68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Das häufigste </a:t>
          </a:r>
          <a:r>
            <a:rPr lang="de-CH" sz="1500" b="1" kern="1200"/>
            <a:t>Beratungsformat</a:t>
          </a:r>
          <a:r>
            <a:rPr lang="de-CH" sz="1500" kern="1200"/>
            <a:t> ist nebst der </a:t>
          </a:r>
          <a:r>
            <a:rPr lang="de-CH" sz="1500" b="1" kern="1200"/>
            <a:t>Info zur Selbsthilfe, </a:t>
          </a:r>
          <a:r>
            <a:rPr lang="de-CH" sz="1500" kern="1200"/>
            <a:t>die </a:t>
          </a:r>
          <a:r>
            <a:rPr lang="de-CH" sz="1500" b="1" kern="1200"/>
            <a:t>individuelle Beratung </a:t>
          </a:r>
          <a:r>
            <a:rPr lang="de-CH" sz="1500" kern="1200"/>
            <a:t>für Studierende. Dieses Format wird an allen Fachhochschulen mit Ausnahme der FFHS angeboten. </a:t>
          </a:r>
          <a:endParaRPr lang="en-US" sz="1500" kern="1200"/>
        </a:p>
      </dsp:txBody>
      <dsp:txXfrm>
        <a:off x="52260" y="2342962"/>
        <a:ext cx="4723652" cy="966030"/>
      </dsp:txXfrm>
    </dsp:sp>
    <dsp:sp modelId="{7C8E76C4-0C80-4681-85A7-CAFB1020BC54}">
      <dsp:nvSpPr>
        <dsp:cNvPr id="0" name=""/>
        <dsp:cNvSpPr/>
      </dsp:nvSpPr>
      <dsp:spPr>
        <a:xfrm>
          <a:off x="0" y="3404452"/>
          <a:ext cx="4828172" cy="1070550"/>
        </a:xfrm>
        <a:prstGeom prst="roundRect">
          <a:avLst/>
        </a:prstGeom>
        <a:solidFill>
          <a:schemeClr val="accent2">
            <a:hueOff val="-1105004"/>
            <a:satOff val="11554"/>
            <a:lumOff val="-102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Bei den </a:t>
          </a:r>
          <a:r>
            <a:rPr lang="de-CH" sz="1500" b="1" kern="1200"/>
            <a:t>Beratungsthemen</a:t>
          </a:r>
          <a:r>
            <a:rPr lang="de-CH" sz="1500" kern="1200"/>
            <a:t> ist die </a:t>
          </a:r>
          <a:r>
            <a:rPr lang="de-CH" sz="1500" b="1" kern="1200"/>
            <a:t>«Laufbahnberatung», </a:t>
          </a:r>
          <a:r>
            <a:rPr lang="de-CH" sz="1500" kern="1200"/>
            <a:t>gefolgt von </a:t>
          </a:r>
          <a:r>
            <a:rPr lang="de-CH" sz="1500" b="1" kern="1200"/>
            <a:t>«Bewerbung» </a:t>
          </a:r>
          <a:r>
            <a:rPr lang="de-CH" sz="1500" kern="1200"/>
            <a:t>und </a:t>
          </a:r>
          <a:r>
            <a:rPr lang="de-CH" sz="1500" b="1" kern="1200"/>
            <a:t>«psychische Belastungen» </a:t>
          </a:r>
          <a:r>
            <a:rPr lang="de-CH" sz="1500" kern="1200"/>
            <a:t>das häufigste Thema. </a:t>
          </a:r>
          <a:endParaRPr lang="en-US" sz="1500" kern="1200"/>
        </a:p>
      </dsp:txBody>
      <dsp:txXfrm>
        <a:off x="52260" y="3456712"/>
        <a:ext cx="4723652" cy="966030"/>
      </dsp:txXfrm>
    </dsp:sp>
    <dsp:sp modelId="{6BB7BE46-C3BB-451F-BED2-8C3328B1D250}">
      <dsp:nvSpPr>
        <dsp:cNvPr id="0" name=""/>
        <dsp:cNvSpPr/>
      </dsp:nvSpPr>
      <dsp:spPr>
        <a:xfrm>
          <a:off x="0" y="4518202"/>
          <a:ext cx="4828172" cy="1070550"/>
        </a:xfrm>
        <a:prstGeom prst="roundRect">
          <a:avLst/>
        </a:prstGeom>
        <a:solidFill>
          <a:schemeClr val="accent2">
            <a:hueOff val="-1473338"/>
            <a:satOff val="15405"/>
            <a:lumOff val="-137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/>
            <a:t>Die Ergebnisse der Konkurrenzanalyse wurden auch mit dem Beratungsangebot von Schulen aus dem deutschsprachigen Ausland verglichen, damit eine noch breitere Abstützung der Ergebnisse vorliegt.</a:t>
          </a:r>
          <a:endParaRPr lang="en-US" sz="1500" kern="1200" dirty="0"/>
        </a:p>
      </dsp:txBody>
      <dsp:txXfrm>
        <a:off x="52260" y="4570462"/>
        <a:ext cx="4723652" cy="9660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170D8-E879-4501-9A31-B64C01700E04}">
      <dsp:nvSpPr>
        <dsp:cNvPr id="0" name=""/>
        <dsp:cNvSpPr/>
      </dsp:nvSpPr>
      <dsp:spPr>
        <a:xfrm>
          <a:off x="0" y="329007"/>
          <a:ext cx="4828172" cy="16204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Die </a:t>
          </a:r>
          <a:r>
            <a:rPr lang="en-US" sz="2300" kern="1200" err="1"/>
            <a:t>meisten</a:t>
          </a:r>
          <a:r>
            <a:rPr lang="en-US" sz="2300" kern="1200"/>
            <a:t> </a:t>
          </a:r>
          <a:r>
            <a:rPr lang="en-US" sz="2300" kern="1200" err="1"/>
            <a:t>Studierenden</a:t>
          </a:r>
          <a:r>
            <a:rPr lang="en-US" sz="2300" kern="1200"/>
            <a:t> </a:t>
          </a:r>
          <a:r>
            <a:rPr lang="en-US" sz="2300" kern="1200" err="1"/>
            <a:t>finden</a:t>
          </a:r>
          <a:r>
            <a:rPr lang="en-US" sz="2300" kern="1200"/>
            <a:t> </a:t>
          </a:r>
          <a:r>
            <a:rPr lang="en-US" sz="2300" kern="1200" err="1"/>
            <a:t>eine</a:t>
          </a:r>
          <a:r>
            <a:rPr lang="en-US" sz="2300" kern="1200"/>
            <a:t> </a:t>
          </a:r>
          <a:r>
            <a:rPr lang="en-US" sz="2300" kern="1200" err="1"/>
            <a:t>Beratungstelle</a:t>
          </a:r>
          <a:r>
            <a:rPr lang="en-US" sz="2300" kern="1200"/>
            <a:t> </a:t>
          </a:r>
          <a:r>
            <a:rPr lang="en-US" sz="2300" kern="1200" err="1"/>
            <a:t>während</a:t>
          </a:r>
          <a:r>
            <a:rPr lang="en-US" sz="2300" kern="1200"/>
            <a:t> des </a:t>
          </a:r>
          <a:r>
            <a:rPr lang="en-US" sz="2300" kern="1200" err="1"/>
            <a:t>Studiums</a:t>
          </a:r>
          <a:r>
            <a:rPr lang="en-US" sz="2300" kern="1200"/>
            <a:t> </a:t>
          </a:r>
          <a:r>
            <a:rPr lang="en-US" sz="2300" kern="1200" err="1"/>
            <a:t>wichtig</a:t>
          </a:r>
          <a:r>
            <a:rPr lang="en-US" sz="2300" kern="1200"/>
            <a:t> bis </a:t>
          </a:r>
          <a:r>
            <a:rPr lang="en-US" sz="2300" kern="1200" err="1"/>
            <a:t>sehr</a:t>
          </a:r>
          <a:r>
            <a:rPr lang="en-US" sz="2300" kern="1200"/>
            <a:t> </a:t>
          </a:r>
          <a:r>
            <a:rPr lang="en-US" sz="2300" kern="1200" err="1"/>
            <a:t>wichtig</a:t>
          </a:r>
          <a:r>
            <a:rPr lang="en-US" sz="2300" kern="1200"/>
            <a:t>. </a:t>
          </a:r>
        </a:p>
      </dsp:txBody>
      <dsp:txXfrm>
        <a:off x="79106" y="408113"/>
        <a:ext cx="4669960" cy="1462274"/>
      </dsp:txXfrm>
    </dsp:sp>
    <dsp:sp modelId="{0581E2D7-0005-42A0-B099-88DA72E43B40}">
      <dsp:nvSpPr>
        <dsp:cNvPr id="0" name=""/>
        <dsp:cNvSpPr/>
      </dsp:nvSpPr>
      <dsp:spPr>
        <a:xfrm>
          <a:off x="0" y="2015734"/>
          <a:ext cx="4828172" cy="1620486"/>
        </a:xfrm>
        <a:prstGeom prst="roundRect">
          <a:avLst/>
        </a:prstGeom>
        <a:solidFill>
          <a:schemeClr val="accent2">
            <a:hueOff val="-736669"/>
            <a:satOff val="7702"/>
            <a:lumOff val="-68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FFHS-</a:t>
          </a:r>
          <a:r>
            <a:rPr lang="en-US" sz="2300" kern="1200" err="1"/>
            <a:t>Studierende</a:t>
          </a:r>
          <a:r>
            <a:rPr lang="en-US" sz="2300" kern="1200"/>
            <a:t> </a:t>
          </a:r>
          <a:r>
            <a:rPr lang="en-US" sz="2300" kern="1200" err="1"/>
            <a:t>wünschen</a:t>
          </a:r>
          <a:r>
            <a:rPr lang="en-US" sz="2300" kern="1200"/>
            <a:t> </a:t>
          </a:r>
          <a:r>
            <a:rPr lang="en-US" sz="2300" kern="1200" err="1"/>
            <a:t>sich</a:t>
          </a:r>
          <a:r>
            <a:rPr lang="en-US" sz="2300" kern="1200"/>
            <a:t> am </a:t>
          </a:r>
          <a:r>
            <a:rPr lang="en-US" sz="2300" kern="1200" err="1"/>
            <a:t>häufigsten</a:t>
          </a:r>
          <a:r>
            <a:rPr lang="en-US" sz="2300" kern="1200"/>
            <a:t> </a:t>
          </a:r>
          <a:r>
            <a:rPr lang="en-US" sz="2300" kern="1200" err="1"/>
            <a:t>Unterstützung</a:t>
          </a:r>
          <a:r>
            <a:rPr lang="en-US" sz="2300" kern="1200"/>
            <a:t> und Beratung </a:t>
          </a:r>
          <a:r>
            <a:rPr lang="en-US" sz="2300" kern="1200" err="1"/>
            <a:t>zu</a:t>
          </a:r>
          <a:r>
            <a:rPr lang="en-US" sz="2300" kern="1200"/>
            <a:t> </a:t>
          </a:r>
          <a:r>
            <a:rPr lang="en-US" sz="2300" kern="1200" err="1"/>
            <a:t>studienorganisatorischen</a:t>
          </a:r>
          <a:r>
            <a:rPr lang="en-US" sz="2300" kern="1200"/>
            <a:t> </a:t>
          </a:r>
          <a:r>
            <a:rPr lang="en-US" sz="2300" kern="1200" err="1"/>
            <a:t>Kompetenzen</a:t>
          </a:r>
          <a:r>
            <a:rPr lang="en-US" sz="2300" kern="1200"/>
            <a:t> und </a:t>
          </a:r>
          <a:r>
            <a:rPr lang="en-US" sz="2300" kern="1200" err="1"/>
            <a:t>Laufbahn</a:t>
          </a:r>
          <a:r>
            <a:rPr lang="en-US" sz="2300" kern="1200"/>
            <a:t>/</a:t>
          </a:r>
          <a:r>
            <a:rPr lang="en-US" sz="2300" kern="1200" err="1"/>
            <a:t>Karriere</a:t>
          </a:r>
          <a:r>
            <a:rPr lang="en-US" sz="2300" kern="1200"/>
            <a:t>.</a:t>
          </a:r>
        </a:p>
      </dsp:txBody>
      <dsp:txXfrm>
        <a:off x="79106" y="2094840"/>
        <a:ext cx="4669960" cy="1462274"/>
      </dsp:txXfrm>
    </dsp:sp>
    <dsp:sp modelId="{EFB1364B-125A-4EAE-938D-93E636BDD002}">
      <dsp:nvSpPr>
        <dsp:cNvPr id="0" name=""/>
        <dsp:cNvSpPr/>
      </dsp:nvSpPr>
      <dsp:spPr>
        <a:xfrm>
          <a:off x="0" y="3702460"/>
          <a:ext cx="4828172" cy="1620486"/>
        </a:xfrm>
        <a:prstGeom prst="roundRect">
          <a:avLst/>
        </a:prstGeom>
        <a:solidFill>
          <a:schemeClr val="accent2">
            <a:hueOff val="-1473338"/>
            <a:satOff val="15405"/>
            <a:lumOff val="-137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Die </a:t>
          </a:r>
          <a:r>
            <a:rPr lang="en-US" sz="2300" kern="1200" err="1"/>
            <a:t>individuelle</a:t>
          </a:r>
          <a:r>
            <a:rPr lang="en-US" sz="2300" kern="1200"/>
            <a:t> Beratung </a:t>
          </a:r>
          <a:r>
            <a:rPr lang="en-US" sz="2300" kern="1200" err="1"/>
            <a:t>wird</a:t>
          </a:r>
          <a:r>
            <a:rPr lang="en-US" sz="2300" kern="1200"/>
            <a:t> </a:t>
          </a:r>
          <a:r>
            <a:rPr lang="en-US" sz="2300" kern="1200" err="1"/>
            <a:t>im</a:t>
          </a:r>
          <a:r>
            <a:rPr lang="en-US" sz="2300" kern="1200"/>
            <a:t> </a:t>
          </a:r>
          <a:r>
            <a:rPr lang="en-US" sz="2300" kern="1200" err="1"/>
            <a:t>Vergleich</a:t>
          </a:r>
          <a:r>
            <a:rPr lang="en-US" sz="2300" kern="1200"/>
            <a:t> </a:t>
          </a:r>
          <a:r>
            <a:rPr lang="en-US" sz="2300" kern="1200" err="1"/>
            <a:t>zu</a:t>
          </a:r>
          <a:r>
            <a:rPr lang="en-US" sz="2300" kern="1200"/>
            <a:t> </a:t>
          </a:r>
          <a:r>
            <a:rPr lang="en-US" sz="2300" kern="1200" err="1"/>
            <a:t>anderen</a:t>
          </a:r>
          <a:r>
            <a:rPr lang="en-US" sz="2300" kern="1200"/>
            <a:t> </a:t>
          </a:r>
          <a:r>
            <a:rPr lang="en-US" sz="2300" kern="1200" err="1"/>
            <a:t>Formaten</a:t>
          </a:r>
          <a:r>
            <a:rPr lang="en-US" sz="2300" kern="1200"/>
            <a:t> </a:t>
          </a:r>
          <a:r>
            <a:rPr lang="en-US" sz="2300" kern="1200" err="1"/>
            <a:t>wie</a:t>
          </a:r>
          <a:r>
            <a:rPr lang="en-US" sz="2300" kern="1200"/>
            <a:t> Workshops </a:t>
          </a:r>
          <a:r>
            <a:rPr lang="en-US" sz="2300" kern="1200" err="1"/>
            <a:t>oder</a:t>
          </a:r>
          <a:r>
            <a:rPr lang="en-US" sz="2300" kern="1200"/>
            <a:t> Events </a:t>
          </a:r>
          <a:r>
            <a:rPr lang="en-US" sz="2300" kern="1200" err="1"/>
            <a:t>bevorzugt</a:t>
          </a:r>
          <a:r>
            <a:rPr lang="en-US" sz="2300" kern="1200"/>
            <a:t>.</a:t>
          </a:r>
        </a:p>
      </dsp:txBody>
      <dsp:txXfrm>
        <a:off x="79106" y="3781566"/>
        <a:ext cx="4669960" cy="1462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4F43F43-01F0-4E22-A831-5E2CC51AF0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69453FA-14C7-497F-8BF3-CD7A7A9EF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64375-7DBE-4602-B497-393CF0B2DBA1}" type="datetimeFigureOut">
              <a:rPr lang="de-CH" smtClean="0"/>
              <a:t>21.10.2024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930C0E-7921-4F46-B223-809B265561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5E4DE4-CBC5-4E2F-BC31-D95572FBFD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06D97-C6F4-4827-8694-55D28A4BC007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17040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9E7A0-7DC3-48CD-AEF6-29682FC2F0A6}" type="datetimeFigureOut">
              <a:rPr lang="de-CH" smtClean="0"/>
              <a:t>21.10.2024</a:t>
            </a:fld>
            <a:endParaRPr lang="de-CH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B17E9-6086-41E3-94CA-F3B6599C971E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7145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Dauer: 10 Monate bis 2.5 Jahre</a:t>
            </a:r>
          </a:p>
          <a:p>
            <a:r>
              <a:rPr lang="de-CH" dirty="0"/>
              <a:t>Preis: CHF 25’000 – 70’000</a:t>
            </a:r>
          </a:p>
          <a:p>
            <a:r>
              <a:rPr lang="de-CH" dirty="0"/>
              <a:t>ECTS: Keine </a:t>
            </a:r>
            <a:r>
              <a:rPr lang="de-CH" dirty="0" err="1"/>
              <a:t>ECT’s</a:t>
            </a:r>
            <a:r>
              <a:rPr lang="de-CH" dirty="0"/>
              <a:t> – 90 ECTs</a:t>
            </a:r>
          </a:p>
          <a:p>
            <a:r>
              <a:rPr lang="de-CH" dirty="0"/>
              <a:t>Zulassung: Vordergründig universitärer Abschluss, aber offiziell Höhere Fachschulen manchmal </a:t>
            </a:r>
            <a:r>
              <a:rPr lang="de-CH" dirty="0" err="1"/>
              <a:t>sur</a:t>
            </a:r>
            <a:r>
              <a:rPr lang="de-CH" dirty="0"/>
              <a:t> Dossier, manchmal normal. Wichtig: Mehrjährige Berufserfahrung (5 Jahre) und Führungserfahrung.</a:t>
            </a:r>
          </a:p>
          <a:p>
            <a:r>
              <a:rPr lang="de-CH" dirty="0"/>
              <a:t>Studienorte: Komplett Online – Orte in der Schweiz (Zürich, Rapperswil, Chur, Bern etc.)  mit USA, Israel, Ghana, </a:t>
            </a:r>
            <a:r>
              <a:rPr lang="de-CH" dirty="0" err="1"/>
              <a:t>Singapoor</a:t>
            </a:r>
            <a:endParaRPr lang="de-CH" dirty="0"/>
          </a:p>
          <a:p>
            <a:r>
              <a:rPr lang="de-CH" dirty="0"/>
              <a:t>Curriculum: Grundsätzlich </a:t>
            </a:r>
            <a:r>
              <a:rPr lang="de-CH" dirty="0" err="1"/>
              <a:t>EMBA’s</a:t>
            </a:r>
            <a:r>
              <a:rPr lang="de-CH" dirty="0"/>
              <a:t> für Studierende mit oder ohne Vorwissen in den Wirtschaftsfächern, Internationale Ausrichtung, Führungsthema, Auswahl der Studierende (Vernetzung), Vermarktung der Dozierenden, Vertiefungsrichtungen, Persönlichkeitsentwicklung, innovative Themen der Zukunft</a:t>
            </a:r>
          </a:p>
          <a:p>
            <a:r>
              <a:rPr lang="de-CH" dirty="0"/>
              <a:t>Aufnahme: Assessments, Interviews, bis Aufnahme bei Erfüllung der Voraussetzungen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10486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/>
              <a:t>Wo seht Ihr den USP vom EMBA?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39845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Fragen/ Feedback.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53801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9336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1505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5178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14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8195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8097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6819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108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8365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7063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5847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3268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3993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31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746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FHS Titelfolie_einfach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FA5671F6-55AF-4C8D-B50B-9DD7D2B02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45848"/>
          </a:xfrm>
        </p:spPr>
        <p:txBody>
          <a:bodyPr/>
          <a:lstStyle>
            <a:lvl1pPr marL="0" indent="0" algn="l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1B58C45-7C67-4F50-A91A-B06A8D9A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1037"/>
            <a:ext cx="9144000" cy="2921002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AE8C8E1-FD73-3D41-9BC6-EED497C187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9445" y="657226"/>
            <a:ext cx="2005249" cy="105251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F59E34-266E-5A4E-A353-1840BD53CA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581240"/>
            <a:ext cx="12192000" cy="2273589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EE4D27F-02BA-4ABB-88A6-890B6ADDAE7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3" y="4725515"/>
            <a:ext cx="9143999" cy="63609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spcBef>
                <a:spcPts val="450"/>
              </a:spcBef>
              <a:buNone/>
              <a:defRPr sz="135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de-CH" dirty="0"/>
              <a:t>Autor/in, Anlass, Datum</a:t>
            </a:r>
          </a:p>
        </p:txBody>
      </p:sp>
    </p:spTree>
    <p:extLst>
      <p:ext uri="{BB962C8B-B14F-4D97-AF65-F5344CB8AC3E}">
        <p14:creationId xmlns:p14="http://schemas.microsoft.com/office/powerpoint/2010/main" val="25121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FHS Titel und Inhalt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20B4-855E-4F1A-8DB3-3671238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DD8735-66F2-4BA9-996E-5D2AC4CF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684D56-C480-405A-9560-D8F9069A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F117B1-5C37-4EC9-8B60-A502A14F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10454F-7CA3-4C07-8DED-4CDA7F09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5280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FHS Nummerierung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20B4-855E-4F1A-8DB3-3671238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DD8735-66F2-4BA9-996E-5D2AC4CF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85754" indent="-385754">
              <a:buFont typeface="+mj-lt"/>
              <a:buAutoNum type="arabicPeriod"/>
              <a:defRPr/>
            </a:lvl1pPr>
            <a:lvl2pPr marL="685783" indent="-342892">
              <a:buFont typeface="+mj-lt"/>
              <a:buAutoNum type="arabicPeriod"/>
              <a:defRPr/>
            </a:lvl2pPr>
            <a:lvl3pPr marL="1028675" indent="-342892">
              <a:buFont typeface="+mj-lt"/>
              <a:buAutoNum type="arabicPeriod"/>
              <a:defRPr/>
            </a:lvl3pPr>
            <a:lvl4pPr marL="1285843" indent="-257168">
              <a:buFont typeface="+mj-lt"/>
              <a:buAutoNum type="arabicPeriod"/>
              <a:defRPr/>
            </a:lvl4pPr>
            <a:lvl5pPr marL="1628735" indent="-257168">
              <a:buFont typeface="+mj-lt"/>
              <a:buAutoNum type="arabicPeriod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EAD9EA-4A3B-41AA-A8CC-753BC242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C457DE7-CFAC-40E6-BDEE-8684BB9A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37825545-8DF0-2AC2-F6C6-25C97E54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777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FHS Video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20B4-855E-4F1A-8DB3-3671238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20CB8AAB-11DC-47A2-8785-8D42450DF70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637311" y="1825625"/>
            <a:ext cx="10917383" cy="4351338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CH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60EA20B-C11D-49C9-9408-0D2A742AA0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D7F24A8-7049-454C-A076-A1B4F070CC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7A9B66-117E-84E5-5DBD-E886AAAC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6696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FHS Zwei Inhalte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0B872-74EF-4C33-8B4E-FAE1E11F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C3593F-952C-415A-AF32-FDDD1CF13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309" y="1825625"/>
            <a:ext cx="5382491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21D609-BB83-464C-95CE-1E02BB3E1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382491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8A94CC7-FF60-4A03-B9C5-99177EFB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8EE1FB8-8941-4DE8-902C-C1BAE81C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Datumsplatzhalter 6">
            <a:extLst>
              <a:ext uri="{FF2B5EF4-FFF2-40B4-BE49-F238E27FC236}">
                <a16:creationId xmlns:a16="http://schemas.microsoft.com/office/drawing/2014/main" id="{365FDB7D-6F8A-001D-4F6C-65BCA915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5508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FHS Drei Inhalte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0B872-74EF-4C33-8B4E-FAE1E11F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C3593F-952C-415A-AF32-FDDD1CF13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311" y="1825625"/>
            <a:ext cx="3583708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39172C6E-BC0E-4F2F-8214-8D9A779BBAF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66364" y="1825625"/>
            <a:ext cx="3583709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25AB4E9-DDFF-456B-A37C-5BBD522CCA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01836" y="1825625"/>
            <a:ext cx="3583709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130347-7708-4C01-BE3E-5D655E4C265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F3F4086-27A6-4B08-8707-C8EB914A31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669CE2D2-B951-7820-4A43-96AC9887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323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FHS Vergleich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1CCC9-9BFC-4CE4-BD02-B4B84EF5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11" y="668337"/>
            <a:ext cx="10917379" cy="10223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519B7B-4C6B-45DB-A6D6-8F250E679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312" y="1690691"/>
            <a:ext cx="5360265" cy="8143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E9B40F-22FA-4E5B-A162-9291B5181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312" y="2636838"/>
            <a:ext cx="5360265" cy="35528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978AC9-5267-4FA6-B937-F67EDD99B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1" y="1690687"/>
            <a:ext cx="5471583" cy="814388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97499F9-EDF3-438B-A4F2-12D2692F3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1" y="2636837"/>
            <a:ext cx="5458688" cy="35528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A49253-36AB-43E8-B1DA-A0609185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03DC41D-6D71-416B-A287-9EC38A24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ACAD1A1B-883A-F645-3DA1-DCFB2819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9950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66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FHS Nur Titel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165F5-3685-43D7-BA55-8BEA99DA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FCD97D0-F88E-4F87-A670-339D63C3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0FC1992-78C0-4F3F-9032-F6ABF798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Datumsplatzhalter 6">
            <a:extLst>
              <a:ext uri="{FF2B5EF4-FFF2-40B4-BE49-F238E27FC236}">
                <a16:creationId xmlns:a16="http://schemas.microsoft.com/office/drawing/2014/main" id="{89A88DA7-B9A5-AC71-C9F8-01E3C5EB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6148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FHS Leer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6AD2E8-DC23-44EF-939E-6FAB4B72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4856FC-6F73-420A-8591-B56AB6F4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4FE55E47-1FF4-E9BE-0408-9ED4B51F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620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FHS Bild mit Überschrift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AE478-C77A-404D-A6E6-40DE74D2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657225"/>
            <a:ext cx="4147608" cy="1042989"/>
          </a:xfrm>
        </p:spPr>
        <p:txBody>
          <a:bodyPr anchor="b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7F6AF5-1E55-418D-97D7-C4DA3FE78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0"/>
            <a:ext cx="7008812" cy="6323162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F4FA35-392E-45B9-8661-06FD142C4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4417" y="1700213"/>
            <a:ext cx="4147608" cy="4168775"/>
          </a:xfrm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BDCBC8-5147-48DB-976B-2E4A7577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BC43D41-58DC-40B7-B4D1-1FC96B6A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Datumsplatzhalter 6">
            <a:extLst>
              <a:ext uri="{FF2B5EF4-FFF2-40B4-BE49-F238E27FC236}">
                <a16:creationId xmlns:a16="http://schemas.microsoft.com/office/drawing/2014/main" id="{D23E4C50-C3E5-BFA1-BEA2-FFD42069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7795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FHS Abschlussfolie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77FB964-6E9F-4E05-8E05-1BF17C91D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69010"/>
            <a:ext cx="12192000" cy="69152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ECC285A-7967-43D5-9DD4-26A5E791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11" y="681041"/>
            <a:ext cx="7480148" cy="1009651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D0A757-8E04-4732-9462-4C01587DC8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2518" y="657226"/>
            <a:ext cx="2002173" cy="10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8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4" userDrawn="1">
          <p15:clr>
            <a:srgbClr val="FBAE40"/>
          </p15:clr>
        </p15:guide>
        <p15:guide id="2" orient="horz" pos="1071" userDrawn="1">
          <p15:clr>
            <a:srgbClr val="FBAE40"/>
          </p15:clr>
        </p15:guide>
        <p15:guide id="3" pos="601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E213C99-FA7F-4C95-9EFA-EFCF4CFC9B8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6337783"/>
            <a:ext cx="12192000" cy="542925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1773A1-D592-4122-A9AD-C526674B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11" y="681041"/>
            <a:ext cx="10917383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1D5F68-63D6-40B2-B89F-8710C5382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311" y="1825625"/>
            <a:ext cx="109173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0D6E4AE1-3F5D-4BD5-AF1F-C329AD9AC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65500" y="6421536"/>
            <a:ext cx="6884837" cy="392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C4EEC164-BB96-4173-B91A-1EE709C4A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4025" y="6419620"/>
            <a:ext cx="1000665" cy="393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FCC2D71-D752-AD47-82D5-DB956B6A21B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11" y="6492821"/>
            <a:ext cx="928108" cy="232844"/>
          </a:xfrm>
          <a:prstGeom prst="rect">
            <a:avLst/>
          </a:prstGeom>
        </p:spPr>
      </p:pic>
      <p:sp>
        <p:nvSpPr>
          <p:cNvPr id="10" name="Datumsplatzhalter 6">
            <a:extLst>
              <a:ext uri="{FF2B5EF4-FFF2-40B4-BE49-F238E27FC236}">
                <a16:creationId xmlns:a16="http://schemas.microsoft.com/office/drawing/2014/main" id="{966EA3E5-FC5F-482C-CF1C-540DED743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01972" y="6419620"/>
            <a:ext cx="1483997" cy="393931"/>
          </a:xfrm>
          <a:prstGeom prst="rect">
            <a:avLst/>
          </a:prstGeom>
        </p:spPr>
        <p:txBody>
          <a:bodyPr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0720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63" r:id="rId3"/>
    <p:sldLayoutId id="2147483662" r:id="rId4"/>
    <p:sldLayoutId id="2147483652" r:id="rId5"/>
    <p:sldLayoutId id="2147483660" r:id="rId6"/>
    <p:sldLayoutId id="2147483653" r:id="rId7"/>
    <p:sldLayoutId id="2147483654" r:id="rId8"/>
    <p:sldLayoutId id="2147483655" r:id="rId9"/>
    <p:sldLayoutId id="2147483657" r:id="rId10"/>
    <p:sldLayoutId id="2147483661" r:id="rId11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92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pos="7287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414" userDrawn="1">
          <p15:clr>
            <a:srgbClr val="F26B43"/>
          </p15:clr>
        </p15:guide>
        <p15:guide id="9" orient="horz" pos="1071" userDrawn="1">
          <p15:clr>
            <a:srgbClr val="F26B43"/>
          </p15:clr>
        </p15:guide>
        <p15:guide id="10" pos="60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55FBB3-80C8-45C7-9348-5C3C04A0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23" y="681037"/>
            <a:ext cx="11256579" cy="2921002"/>
          </a:xfrm>
        </p:spPr>
        <p:txBody>
          <a:bodyPr vert="horz" lIns="54000" tIns="45720" rIns="91440" bIns="45720" rtlCol="0" anchor="b">
            <a:normAutofit/>
          </a:bodyPr>
          <a:lstStyle/>
          <a:p>
            <a: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  <a:t>Teammeeting CRCS Q3</a:t>
            </a:r>
          </a:p>
        </p:txBody>
      </p:sp>
    </p:spTree>
    <p:extLst>
      <p:ext uri="{BB962C8B-B14F-4D97-AF65-F5344CB8AC3E}">
        <p14:creationId xmlns:p14="http://schemas.microsoft.com/office/powerpoint/2010/main" val="275854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20C81-E748-7BAE-853C-C1B384AF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187FAE-FD21-9F20-CE67-4CCCA7379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10:00 – 10:30	Neues aus dem EMBA mit Laetitia Dahl</a:t>
            </a:r>
          </a:p>
          <a:p>
            <a:r>
              <a:rPr lang="de-CH" dirty="0"/>
              <a:t>10:30 – 11:00	Beratung Studierende an der FFHS – Update Projekt mit Olivia und Anette</a:t>
            </a:r>
          </a:p>
          <a:p>
            <a:r>
              <a:rPr lang="de-CH" dirty="0"/>
              <a:t>11:00 – 11:10	Pause</a:t>
            </a:r>
          </a:p>
          <a:p>
            <a:r>
              <a:rPr lang="de-CH" dirty="0"/>
              <a:t>11:10 – 11:20	Erfassung Events &amp; Identifikation SG/Produkte </a:t>
            </a:r>
          </a:p>
          <a:p>
            <a:r>
              <a:rPr lang="de-CH" dirty="0"/>
              <a:t>11:20 – 12:05	Dein Update: 5’ für alle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3D3B74-AFA3-552C-1DF6-0D7E5403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01DB2E-3C1D-80F1-3F2D-58218907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3044B8-847F-F5DA-C24A-312531F6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4670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46DB5623-CEF7-4893-A4CE-F8E6898DB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  <a:t>Heute und in Zukunft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55FBB3-80C8-45C7-9348-5C3C04A0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54000" tIns="45720" rIns="91440" bIns="45720" rtlCol="0" anchor="b">
            <a:normAutofit/>
          </a:bodyPr>
          <a:lstStyle/>
          <a:p>
            <a: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  <a:t>Vorstellung:</a:t>
            </a:r>
            <a:b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  <a:t>EMBA an der FFHS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B06472-07C2-4DF3-B86B-F215082E9B4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100800" tIns="0" rIns="0" bIns="0" rtlCol="0" anchor="t">
            <a:normAutofit/>
          </a:bodyPr>
          <a:lstStyle/>
          <a:p>
            <a:r>
              <a:rPr lang="de-CH" dirty="0"/>
              <a:t>Dr. Laetitia Dahl Bünger</a:t>
            </a:r>
            <a: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  <a:t>, 22. Oktober 2024</a:t>
            </a:r>
          </a:p>
          <a:p>
            <a:r>
              <a:rPr lang="de-CH" dirty="0"/>
              <a:t>Studiengangsleiterin</a:t>
            </a:r>
            <a:endParaRPr lang="de-CH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A6B0D-F760-CBC5-E31F-4AA2F2D3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DD5DFA-DBE3-36DC-39AE-AFF021AEA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Die EMBA Landschaft in der Schweiz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FFHS: Aktueller EMBA 2024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EMBA der Zukunft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2400" dirty="0"/>
              <a:t>Fragen / Feedback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046A2-819B-95C6-7EB4-681C29AE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4BE452-3A6B-65B7-EA8E-788D56F8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1F89E4-BC3C-A65E-AE03-118F5CD2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8163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1CF21-B73D-EAE6-5993-17AA32E1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EMBA</a:t>
            </a:r>
            <a:br>
              <a:rPr lang="de-CH" dirty="0"/>
            </a:br>
            <a:r>
              <a:rPr lang="de-CH" dirty="0"/>
              <a:t>Welcher Weg passt zu mir?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EE767B-D8AC-7EE6-476D-5191FB00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66095C-5098-2C87-F42A-04CC2FD0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6C55D-09E6-3D08-FDCB-A9D342A4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22D5D779-A34B-8DC5-9FD8-70E4532F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3" name="Grafik 4">
            <a:extLst>
              <a:ext uri="{FF2B5EF4-FFF2-40B4-BE49-F238E27FC236}">
                <a16:creationId xmlns:a16="http://schemas.microsoft.com/office/drawing/2014/main" id="{D45E24F6-F205-7B18-4E00-1517D23F3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448" y="1881900"/>
            <a:ext cx="6888792" cy="4140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113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1CF21-B73D-EAE6-5993-17AA32E1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EMBA</a:t>
            </a:r>
            <a:br>
              <a:rPr lang="de-CH" dirty="0"/>
            </a:br>
            <a:r>
              <a:rPr lang="de-CH" dirty="0" err="1"/>
              <a:t>EMBA</a:t>
            </a:r>
            <a:r>
              <a:rPr lang="de-CH" dirty="0"/>
              <a:t> Landschaft in der Schweiz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EE767B-D8AC-7EE6-476D-5191FB00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66095C-5098-2C87-F42A-04CC2FD0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6C55D-09E6-3D08-FDCB-A9D342A4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6</a:t>
            </a:fld>
            <a:endParaRPr lang="de-CH" dirty="0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205F76F8-39B9-FFEF-E460-9C4B75E1B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0613" y="4431765"/>
            <a:ext cx="1425063" cy="861135"/>
          </a:xfr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D10D610-6487-B1FC-B997-D21FF3B25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613" y="1825626"/>
            <a:ext cx="8640147" cy="247699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922F7DF-E124-36E0-B9B2-25511337C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676" y="5433358"/>
            <a:ext cx="2073917" cy="68915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897CAFF-4325-753B-E0BB-967FB412C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605" y="5149741"/>
            <a:ext cx="1493649" cy="87637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95113AC-A109-E42C-0531-AF0F8125A5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675" y="4601578"/>
            <a:ext cx="2217612" cy="58679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3FE43BE-BC25-36C5-9377-F80C2B9818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3339" y="4384600"/>
            <a:ext cx="4016088" cy="9221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1233EC2-39FA-2090-195C-22025A6997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2631" y="5573702"/>
            <a:ext cx="828015" cy="65723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FEF80C3-EBC4-7465-1085-265B3F7E81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3684" y="5178475"/>
            <a:ext cx="2445321" cy="531857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31C8F65C-66EA-1A80-102F-F57A4784EA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7865" y="5425339"/>
            <a:ext cx="1667183" cy="833592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8C01B6FD-B18A-E9BA-94B9-3F64A4508C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8019" y="4490081"/>
            <a:ext cx="441998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FA83D-DEC0-8E79-1D02-B46F40F1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FFHS: Aktuelles Curriculum </a:t>
            </a:r>
            <a:r>
              <a:rPr lang="de-CH" sz="1800" dirty="0">
                <a:solidFill>
                  <a:schemeClr val="tx1"/>
                </a:solidFill>
              </a:rPr>
              <a:t>(Stand Heute)</a:t>
            </a:r>
            <a:br>
              <a:rPr lang="de-CH" sz="1800" dirty="0">
                <a:solidFill>
                  <a:schemeClr val="tx1"/>
                </a:solidFill>
              </a:rPr>
            </a:b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F27518-EE2D-83B1-143F-4B56EABC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8C2ED5-E550-BCA4-95E1-F3DC338C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AAE390-1DF2-E2DF-84A6-5FC709C7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62CE79F-B89E-90C7-9B0C-36B68FA0DAE6}"/>
              </a:ext>
            </a:extLst>
          </p:cNvPr>
          <p:cNvSpPr/>
          <p:nvPr/>
        </p:nvSpPr>
        <p:spPr>
          <a:xfrm>
            <a:off x="2958517" y="1690691"/>
            <a:ext cx="5209564" cy="6750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Executive MBA (60 ECTS)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303843-7212-4A35-AC6C-1DEBA6230E88}"/>
              </a:ext>
            </a:extLst>
          </p:cNvPr>
          <p:cNvSpPr/>
          <p:nvPr/>
        </p:nvSpPr>
        <p:spPr>
          <a:xfrm>
            <a:off x="2958518" y="3191701"/>
            <a:ext cx="2537673" cy="6750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DAS in General Management 30 ECTS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8A2FE93-582A-F924-E943-134C480E1760}"/>
              </a:ext>
            </a:extLst>
          </p:cNvPr>
          <p:cNvSpPr/>
          <p:nvPr/>
        </p:nvSpPr>
        <p:spPr>
          <a:xfrm>
            <a:off x="7479477" y="3191701"/>
            <a:ext cx="688605" cy="6750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900" dirty="0"/>
              <a:t>MT </a:t>
            </a:r>
          </a:p>
          <a:p>
            <a:pPr algn="ctr"/>
            <a:r>
              <a:rPr lang="de-CH" sz="900" dirty="0"/>
              <a:t>10 ECTS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8D62EC8-BFBB-C7A0-AC34-97F32FAEA019}"/>
              </a:ext>
            </a:extLst>
          </p:cNvPr>
          <p:cNvSpPr/>
          <p:nvPr/>
        </p:nvSpPr>
        <p:spPr>
          <a:xfrm>
            <a:off x="6849609" y="3191701"/>
            <a:ext cx="605409" cy="6750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dirty="0"/>
              <a:t>SK4 </a:t>
            </a:r>
          </a:p>
          <a:p>
            <a:pPr algn="ctr"/>
            <a:r>
              <a:rPr lang="de-CH" sz="1000" dirty="0"/>
              <a:t>5 ECTS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3B4B1B-7DC0-ED59-7929-23342880FA59}"/>
              </a:ext>
            </a:extLst>
          </p:cNvPr>
          <p:cNvSpPr/>
          <p:nvPr/>
        </p:nvSpPr>
        <p:spPr>
          <a:xfrm>
            <a:off x="5559105" y="3191701"/>
            <a:ext cx="1227588" cy="67500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Wahl-CAS </a:t>
            </a:r>
          </a:p>
          <a:p>
            <a:pPr algn="ctr"/>
            <a:r>
              <a:rPr lang="de-CH" sz="1400" dirty="0"/>
              <a:t>15 ECTS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22EFDB8-967E-6B56-2D1F-330E6DCE9890}"/>
              </a:ext>
            </a:extLst>
          </p:cNvPr>
          <p:cNvSpPr/>
          <p:nvPr/>
        </p:nvSpPr>
        <p:spPr>
          <a:xfrm>
            <a:off x="2958517" y="2810312"/>
            <a:ext cx="1227588" cy="30588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1. Semester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2492C37-DA30-B270-86D0-B8924CFB348D}"/>
              </a:ext>
            </a:extLst>
          </p:cNvPr>
          <p:cNvSpPr/>
          <p:nvPr/>
        </p:nvSpPr>
        <p:spPr>
          <a:xfrm>
            <a:off x="4268602" y="2810312"/>
            <a:ext cx="1227588" cy="30588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2. Semester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42EE59-E32B-F577-5BA1-DF426653EF6F}"/>
              </a:ext>
            </a:extLst>
          </p:cNvPr>
          <p:cNvSpPr/>
          <p:nvPr/>
        </p:nvSpPr>
        <p:spPr>
          <a:xfrm>
            <a:off x="5559105" y="2810312"/>
            <a:ext cx="1227588" cy="30588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3. Semester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98702A2-8FB0-8B50-5BE1-04742D71B404}"/>
              </a:ext>
            </a:extLst>
          </p:cNvPr>
          <p:cNvSpPr/>
          <p:nvPr/>
        </p:nvSpPr>
        <p:spPr>
          <a:xfrm>
            <a:off x="6857297" y="2810312"/>
            <a:ext cx="1310784" cy="30588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4. Semester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46BD05B-DFFE-D19C-53D4-80AB662FEC32}"/>
              </a:ext>
            </a:extLst>
          </p:cNvPr>
          <p:cNvSpPr txBox="1"/>
          <p:nvPr/>
        </p:nvSpPr>
        <p:spPr>
          <a:xfrm>
            <a:off x="1901885" y="5220757"/>
            <a:ext cx="36572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b="1" dirty="0"/>
              <a:t>DAS in General Management</a:t>
            </a:r>
          </a:p>
          <a:p>
            <a:pPr marL="285750" indent="-285750">
              <a:buFontTx/>
              <a:buChar char="-"/>
            </a:pPr>
            <a:r>
              <a:rPr lang="de-CH" sz="1400" dirty="0"/>
              <a:t>Wird auch ausserhalb des EMBA angeboten</a:t>
            </a:r>
          </a:p>
          <a:p>
            <a:pPr marL="285750" indent="-285750">
              <a:buFontTx/>
              <a:buChar char="-"/>
            </a:pPr>
            <a:r>
              <a:rPr lang="de-CH" sz="1400" dirty="0"/>
              <a:t>Module bauen nicht aufeinander auf</a:t>
            </a:r>
          </a:p>
          <a:p>
            <a:pPr marL="285750" indent="-285750">
              <a:buFontTx/>
              <a:buChar char="-"/>
            </a:pPr>
            <a:r>
              <a:rPr lang="de-CH" sz="1400" dirty="0"/>
              <a:t>Start im HS und im FS möglich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296BE59-8242-5744-D19C-6AFED35A4F31}"/>
              </a:ext>
            </a:extLst>
          </p:cNvPr>
          <p:cNvSpPr txBox="1"/>
          <p:nvPr/>
        </p:nvSpPr>
        <p:spPr>
          <a:xfrm>
            <a:off x="6629940" y="4036365"/>
            <a:ext cx="392061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Leadership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Wird auch ausserhalb des EMBA angeboten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Persuasive Communication / New Leadership Approach / Cross-Cultural </a:t>
            </a:r>
            <a:r>
              <a:rPr lang="de-CH" sz="1050" dirty="0" err="1"/>
              <a:t>Competences</a:t>
            </a:r>
            <a:endParaRPr lang="de-CH" sz="1050" dirty="0"/>
          </a:p>
          <a:p>
            <a:pPr marL="285750" indent="-285750">
              <a:buFontTx/>
              <a:buChar char="-"/>
            </a:pPr>
            <a:r>
              <a:rPr lang="de-CH" sz="1050" dirty="0"/>
              <a:t>Angeboten in HS und in FS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D15B705-542F-5CF8-4D73-24A7A5DE9638}"/>
              </a:ext>
            </a:extLst>
          </p:cNvPr>
          <p:cNvSpPr txBox="1"/>
          <p:nvPr/>
        </p:nvSpPr>
        <p:spPr>
          <a:xfrm>
            <a:off x="6629940" y="4897706"/>
            <a:ext cx="3920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Management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Wird auch ausserhalb des EMBA angeboten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Projektmanagement / Innovation Management / Business </a:t>
            </a:r>
            <a:r>
              <a:rPr lang="de-CH" sz="1050" dirty="0" err="1"/>
              <a:t>Process</a:t>
            </a:r>
            <a:r>
              <a:rPr lang="de-CH" sz="1050" dirty="0"/>
              <a:t> Management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7ED6A55A-95B8-08FA-AE8A-A64AC1CF48F9}"/>
              </a:ext>
            </a:extLst>
          </p:cNvPr>
          <p:cNvCxnSpPr>
            <a:stCxn id="12" idx="2"/>
          </p:cNvCxnSpPr>
          <p:nvPr/>
        </p:nvCxnSpPr>
        <p:spPr>
          <a:xfrm>
            <a:off x="6172899" y="3866706"/>
            <a:ext cx="457040" cy="772407"/>
          </a:xfrm>
          <a:prstGeom prst="straightConnector1">
            <a:avLst/>
          </a:prstGeom>
          <a:ln w="158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055B3D9-8C75-6C09-723C-E555ECE39D71}"/>
              </a:ext>
            </a:extLst>
          </p:cNvPr>
          <p:cNvCxnSpPr>
            <a:cxnSpLocks/>
          </p:cNvCxnSpPr>
          <p:nvPr/>
        </p:nvCxnSpPr>
        <p:spPr>
          <a:xfrm>
            <a:off x="6092424" y="3871800"/>
            <a:ext cx="513056" cy="1523862"/>
          </a:xfrm>
          <a:prstGeom prst="straightConnector1">
            <a:avLst/>
          </a:prstGeom>
          <a:ln w="158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9141EC56-8CF5-5DB8-9A3E-73A8EF9C463D}"/>
              </a:ext>
            </a:extLst>
          </p:cNvPr>
          <p:cNvSpPr/>
          <p:nvPr/>
        </p:nvSpPr>
        <p:spPr>
          <a:xfrm>
            <a:off x="2948564" y="3964305"/>
            <a:ext cx="465194" cy="512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dirty="0"/>
              <a:t>BWL 3 </a:t>
            </a:r>
          </a:p>
          <a:p>
            <a:pPr algn="ctr"/>
            <a:r>
              <a:rPr lang="de-CH" sz="800" dirty="0"/>
              <a:t>5 ECTS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B095B5A-EE33-6BC1-71A0-AC2ECB1BA72C}"/>
              </a:ext>
            </a:extLst>
          </p:cNvPr>
          <p:cNvSpPr/>
          <p:nvPr/>
        </p:nvSpPr>
        <p:spPr>
          <a:xfrm>
            <a:off x="3450825" y="3965635"/>
            <a:ext cx="465194" cy="512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dirty="0"/>
              <a:t>VWL 4</a:t>
            </a:r>
          </a:p>
          <a:p>
            <a:pPr algn="ctr"/>
            <a:r>
              <a:rPr lang="de-CH" sz="800" dirty="0"/>
              <a:t>5 ECTS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C2F485A-9D69-561A-6DCB-ACF3DA61182C}"/>
              </a:ext>
            </a:extLst>
          </p:cNvPr>
          <p:cNvSpPr/>
          <p:nvPr/>
        </p:nvSpPr>
        <p:spPr>
          <a:xfrm>
            <a:off x="3953086" y="3966966"/>
            <a:ext cx="465194" cy="512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dirty="0"/>
              <a:t>ME 4</a:t>
            </a:r>
          </a:p>
          <a:p>
            <a:pPr algn="ctr"/>
            <a:r>
              <a:rPr lang="de-CH" sz="800" dirty="0"/>
              <a:t>5 ECTS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4EB97A4-BF09-2011-5D3F-4EBDAC2F39BC}"/>
              </a:ext>
            </a:extLst>
          </p:cNvPr>
          <p:cNvSpPr/>
          <p:nvPr/>
        </p:nvSpPr>
        <p:spPr>
          <a:xfrm>
            <a:off x="4023315" y="4561980"/>
            <a:ext cx="465194" cy="512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dirty="0"/>
              <a:t>SE 1</a:t>
            </a:r>
          </a:p>
          <a:p>
            <a:pPr algn="ctr"/>
            <a:r>
              <a:rPr lang="de-CH" sz="800" dirty="0"/>
              <a:t>5 ECTS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28BECAD-C4DB-1E0F-E6E9-17DDE43149E4}"/>
              </a:ext>
            </a:extLst>
          </p:cNvPr>
          <p:cNvSpPr/>
          <p:nvPr/>
        </p:nvSpPr>
        <p:spPr>
          <a:xfrm>
            <a:off x="4525576" y="4563310"/>
            <a:ext cx="465194" cy="512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dirty="0"/>
              <a:t>HRM 17</a:t>
            </a:r>
          </a:p>
          <a:p>
            <a:pPr algn="ctr"/>
            <a:r>
              <a:rPr lang="de-CH" sz="800" dirty="0"/>
              <a:t>5 ECTS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47EBEEB-5427-14A8-3DEB-18EC1EE1199F}"/>
              </a:ext>
            </a:extLst>
          </p:cNvPr>
          <p:cNvSpPr/>
          <p:nvPr/>
        </p:nvSpPr>
        <p:spPr>
          <a:xfrm>
            <a:off x="5027837" y="4564641"/>
            <a:ext cx="465194" cy="51299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dirty="0"/>
              <a:t>ME 1</a:t>
            </a:r>
          </a:p>
          <a:p>
            <a:pPr algn="ctr"/>
            <a:r>
              <a:rPr lang="de-CH" sz="800" dirty="0"/>
              <a:t>5 ECTS</a:t>
            </a:r>
          </a:p>
        </p:txBody>
      </p:sp>
    </p:spTree>
    <p:extLst>
      <p:ext uri="{BB962C8B-B14F-4D97-AF65-F5344CB8AC3E}">
        <p14:creationId xmlns:p14="http://schemas.microsoft.com/office/powerpoint/2010/main" val="133603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A6B0D-F760-CBC5-E31F-4AA2F2D3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Besonderheiten EMBA an der FFHS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DD5DFA-DBE3-36DC-39AE-AFF021AEA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066" y="1690691"/>
            <a:ext cx="8188037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de-CH" dirty="0"/>
              <a:t>Aktuell 115 Studierende, EMBA der FFHS erlebt seit dem Corona Lockdown ein stetiges Wachstum.</a:t>
            </a:r>
          </a:p>
          <a:p>
            <a:pPr>
              <a:lnSpc>
                <a:spcPct val="150000"/>
              </a:lnSpc>
            </a:pPr>
            <a:r>
              <a:rPr lang="de-CH" dirty="0"/>
              <a:t>Das EMBA ist komplett online </a:t>
            </a:r>
            <a:r>
              <a:rPr lang="de-CH" dirty="0">
                <a:sym typeface="Wingdings" panose="05000000000000000000" pitchFamily="2" charset="2"/>
              </a:rPr>
              <a:t> Präsensveranstaltungen wurden/ werden angeboten, aber nicht angefragt.</a:t>
            </a:r>
          </a:p>
          <a:p>
            <a:pPr>
              <a:lnSpc>
                <a:spcPct val="150000"/>
              </a:lnSpc>
            </a:pPr>
            <a:r>
              <a:rPr lang="de-CH" dirty="0"/>
              <a:t>47 % der Studierenden haben in den letzten 3 Jahren zuerst das CAS Leadership gebucht, danach das EMBA.</a:t>
            </a:r>
          </a:p>
          <a:p>
            <a:pPr>
              <a:lnSpc>
                <a:spcPct val="150000"/>
              </a:lnSpc>
            </a:pPr>
            <a:r>
              <a:rPr lang="de-CH" dirty="0"/>
              <a:t>Verschieden grosser Aufwand, um die gleiche Anzahl ECTS zu erreichen.</a:t>
            </a:r>
          </a:p>
          <a:p>
            <a:pPr>
              <a:lnSpc>
                <a:spcPct val="150000"/>
              </a:lnSpc>
            </a:pPr>
            <a:r>
              <a:rPr lang="de-CH" dirty="0"/>
              <a:t>Unabhängige Module, Studierende und Dozenten wenig miteinander vernetzt.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046A2-819B-95C6-7EB4-681C29AE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4BE452-3A6B-65B7-EA8E-788D56F8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1F89E4-BC3C-A65E-AE03-118F5CD2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8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97537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A6B0D-F760-CBC5-E31F-4AA2F2D3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Aktuelle Vorzüge des EMBA an der FFHS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DD5DFA-DBE3-36DC-39AE-AFF021AEA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CH" dirty="0"/>
              <a:t>Nur 4 Semester</a:t>
            </a:r>
          </a:p>
          <a:p>
            <a:pPr>
              <a:lnSpc>
                <a:spcPct val="150000"/>
              </a:lnSpc>
            </a:pPr>
            <a:r>
              <a:rPr lang="de-CH" dirty="0"/>
              <a:t>100% berufsbegleitend möglich</a:t>
            </a:r>
          </a:p>
          <a:p>
            <a:pPr>
              <a:lnSpc>
                <a:spcPct val="150000"/>
              </a:lnSpc>
            </a:pPr>
            <a:r>
              <a:rPr lang="de-CH" dirty="0"/>
              <a:t>Passerellen für Wirtschafts-Studienabschlüsse</a:t>
            </a:r>
          </a:p>
          <a:p>
            <a:pPr>
              <a:lnSpc>
                <a:spcPct val="150000"/>
              </a:lnSpc>
            </a:pPr>
            <a:r>
              <a:rPr lang="de-CH" dirty="0"/>
              <a:t>Wahl des CAS im 3. Semester</a:t>
            </a:r>
          </a:p>
          <a:p>
            <a:pPr>
              <a:lnSpc>
                <a:spcPct val="150000"/>
              </a:lnSpc>
            </a:pPr>
            <a:r>
              <a:rPr lang="de-CH" dirty="0"/>
              <a:t>Start im HS und im FS möglich</a:t>
            </a:r>
          </a:p>
          <a:p>
            <a:pPr>
              <a:lnSpc>
                <a:spcPct val="150000"/>
              </a:lnSpc>
            </a:pPr>
            <a:r>
              <a:rPr lang="de-CH" dirty="0"/>
              <a:t>Kosten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046A2-819B-95C6-7EB4-681C29AE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4BE452-3A6B-65B7-EA8E-788D56F8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1F89E4-BC3C-A65E-AE03-118F5CD2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77464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1CF21-B73D-EAE6-5993-17AA32E1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84" y="681041"/>
            <a:ext cx="8188037" cy="1009651"/>
          </a:xfrm>
        </p:spPr>
        <p:txBody>
          <a:bodyPr anchor="ctr">
            <a:normAutofit/>
          </a:bodyPr>
          <a:lstStyle/>
          <a:p>
            <a:r>
              <a:rPr lang="de-CH" b="1" dirty="0"/>
              <a:t>EMBA der Zukunft an der FFHS</a:t>
            </a:r>
            <a:endParaRPr lang="de-CH" dirty="0"/>
          </a:p>
        </p:txBody>
      </p:sp>
      <p:pic>
        <p:nvPicPr>
          <p:cNvPr id="8" name="Grafik 7" descr="Ein Bild, das draußen, Wolke, Himmel, Text enthält.&#10;&#10;Automatisch generierte Beschreibung">
            <a:extLst>
              <a:ext uri="{FF2B5EF4-FFF2-40B4-BE49-F238E27FC236}">
                <a16:creationId xmlns:a16="http://schemas.microsoft.com/office/drawing/2014/main" id="{5A8921EC-167A-B2F3-6445-E9F68D45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995" y="1825625"/>
            <a:ext cx="6556015" cy="4351338"/>
          </a:xfrm>
          <a:prstGeom prst="rect">
            <a:avLst/>
          </a:prstGeom>
          <a:noFill/>
        </p:spPr>
      </p:pic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9D4E1E07-6C62-A4BE-A97B-4ECE2F7C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8125" y="6421536"/>
            <a:ext cx="5163628" cy="392015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6C55D-09E6-3D08-FDCB-A9D342A4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519" y="6419620"/>
            <a:ext cx="750499" cy="3939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704E467-C06D-4A7A-98D0-E1E00465E11C}" type="slidenum">
              <a:rPr lang="de-CH" smtClean="0"/>
              <a:pPr>
                <a:spcAft>
                  <a:spcPts val="600"/>
                </a:spcAft>
              </a:pPr>
              <a:t>10</a:t>
            </a:fld>
            <a:endParaRPr lang="de-CH"/>
          </a:p>
        </p:txBody>
      </p:sp>
      <p:sp>
        <p:nvSpPr>
          <p:cNvPr id="20" name="Date Placeholder 5">
            <a:extLst>
              <a:ext uri="{FF2B5EF4-FFF2-40B4-BE49-F238E27FC236}">
                <a16:creationId xmlns:a16="http://schemas.microsoft.com/office/drawing/2014/main" id="{F0608BAF-E099-0652-25A6-F5CB4CC4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00479" y="6419620"/>
            <a:ext cx="1112998" cy="393931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0146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36AB-C52F-D0FF-E875-DE0682FE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D71E32-DDB1-4357-9106-6608DAF8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Kriterien neues EMBA Curriculum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9349BE-59C1-009B-53B3-9B7B32215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1984" y="1690691"/>
            <a:ext cx="818803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CAS Module mit 10 ECTS, wiedererkennbare Strukturen durch die Semester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Flexibilisierung in Inhalten und zeitlichen Horizonten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Einfaches, verständliches Curriculum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EMBA ist in 2 Jahren machbar sein, 100 % berufsbegleitend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Herbst- und Frühling Einstieg möglich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Passerellen für Wirtschafts-Studienabschlüsse machen Sinn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29BA68-CEE8-DF27-B55F-4A561C9D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E6DE3D-F592-D253-C261-204CEA5C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7E03C-EB3C-A7DF-6078-4ADC43AB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28574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36AB-C52F-D0FF-E875-DE0682FE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D71E32-DDB1-4357-9106-6608DAF8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Kriterien neues EMBA Curriculum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9349BE-59C1-009B-53B3-9B7B32215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1984" y="1690691"/>
            <a:ext cx="818803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Mehr modulare Wahlmöglichkeiten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Mehr Praxisbezug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Mehr Vernetzung unter den EMBA Studierenden / Förderung einer EMBA Community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de-CH" dirty="0"/>
              <a:t> Qualitative hochstehende Module, die mit modernen didaktischen Methoden vermittelt werden.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29BA68-CEE8-DF27-B55F-4A561C9D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E6DE3D-F592-D253-C261-204CEA5C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7E03C-EB3C-A7DF-6078-4ADC43AB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12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2188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F915-28C4-0A59-0689-4C296B1F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6B580-B5A3-FF8E-8C93-DE69AA82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EMBA Curriculum 2025 der Zukunft</a:t>
            </a:r>
            <a:br>
              <a:rPr lang="de-CH" sz="1800" dirty="0">
                <a:solidFill>
                  <a:schemeClr val="tx1"/>
                </a:solidFill>
              </a:rPr>
            </a:b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25E597-5538-A367-99EC-19D1FEF7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C21FBE-8906-889E-D97D-1B0860D5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C3617-9A4A-7681-1302-445DF55D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4575" y="6364756"/>
            <a:ext cx="750499" cy="393930"/>
          </a:xfrm>
        </p:spPr>
        <p:txBody>
          <a:bodyPr/>
          <a:lstStyle/>
          <a:p>
            <a:fld id="{D704E467-C06D-4A7A-98D0-E1E00465E11C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7BDDC32-22C7-A8D0-3859-29545C2FB7CD}"/>
              </a:ext>
            </a:extLst>
          </p:cNvPr>
          <p:cNvSpPr/>
          <p:nvPr/>
        </p:nvSpPr>
        <p:spPr>
          <a:xfrm>
            <a:off x="2958517" y="1322107"/>
            <a:ext cx="6968819" cy="6750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Executive MBA (60 ECTS)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5DBD9F1-CF7A-C785-C86B-C318F05BDEFF}"/>
              </a:ext>
            </a:extLst>
          </p:cNvPr>
          <p:cNvSpPr/>
          <p:nvPr/>
        </p:nvSpPr>
        <p:spPr>
          <a:xfrm>
            <a:off x="2958517" y="4221041"/>
            <a:ext cx="3308370" cy="3693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DAS in General Management 30 ECTS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42C9256-0BB8-3209-A5CD-106DCDB6EE1B}"/>
              </a:ext>
            </a:extLst>
          </p:cNvPr>
          <p:cNvSpPr/>
          <p:nvPr/>
        </p:nvSpPr>
        <p:spPr>
          <a:xfrm>
            <a:off x="8293652" y="2485590"/>
            <a:ext cx="1633684" cy="6750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Masterthesis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1394E8E-2FF3-094A-0517-EE35A641B5B1}"/>
              </a:ext>
            </a:extLst>
          </p:cNvPr>
          <p:cNvSpPr/>
          <p:nvPr/>
        </p:nvSpPr>
        <p:spPr>
          <a:xfrm>
            <a:off x="6515274" y="2493933"/>
            <a:ext cx="1529991" cy="67500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Pflicht:</a:t>
            </a:r>
          </a:p>
          <a:p>
            <a:pPr algn="ctr"/>
            <a:r>
              <a:rPr lang="de-CH" sz="1200" dirty="0"/>
              <a:t>CAS LS oder </a:t>
            </a:r>
            <a:r>
              <a:rPr lang="de-CH" sz="1200" dirty="0" err="1"/>
              <a:t>Mgt</a:t>
            </a:r>
            <a:r>
              <a:rPr lang="de-CH" sz="1200" dirty="0"/>
              <a:t>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2FAB42-C6B8-F566-3268-3F4A137CA676}"/>
              </a:ext>
            </a:extLst>
          </p:cNvPr>
          <p:cNvSpPr/>
          <p:nvPr/>
        </p:nvSpPr>
        <p:spPr>
          <a:xfrm>
            <a:off x="2958517" y="2118206"/>
            <a:ext cx="1529992" cy="2546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1. Semester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A43FB42-E0DD-2699-875C-58D86D733443}"/>
              </a:ext>
            </a:extLst>
          </p:cNvPr>
          <p:cNvSpPr/>
          <p:nvPr/>
        </p:nvSpPr>
        <p:spPr>
          <a:xfrm>
            <a:off x="4736895" y="2118206"/>
            <a:ext cx="1529992" cy="2546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2. Semester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4A09578-83D3-503C-03C4-A5053D183ED1}"/>
              </a:ext>
            </a:extLst>
          </p:cNvPr>
          <p:cNvSpPr/>
          <p:nvPr/>
        </p:nvSpPr>
        <p:spPr>
          <a:xfrm>
            <a:off x="6515273" y="2118206"/>
            <a:ext cx="1529992" cy="25460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3. Semester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F190B1-30EC-2DD6-A705-6501E72A9A07}"/>
              </a:ext>
            </a:extLst>
          </p:cNvPr>
          <p:cNvSpPr/>
          <p:nvPr/>
        </p:nvSpPr>
        <p:spPr>
          <a:xfrm>
            <a:off x="8293653" y="2118206"/>
            <a:ext cx="1633683" cy="25460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4. Semester</a:t>
            </a:r>
          </a:p>
        </p:txBody>
      </p:sp>
      <p:sp>
        <p:nvSpPr>
          <p:cNvPr id="37" name="Stern: 5 Zacken 36">
            <a:extLst>
              <a:ext uri="{FF2B5EF4-FFF2-40B4-BE49-F238E27FC236}">
                <a16:creationId xmlns:a16="http://schemas.microsoft.com/office/drawing/2014/main" id="{403F889A-4398-9266-ED5B-B963554A1EFF}"/>
              </a:ext>
            </a:extLst>
          </p:cNvPr>
          <p:cNvSpPr/>
          <p:nvPr/>
        </p:nvSpPr>
        <p:spPr>
          <a:xfrm>
            <a:off x="1648007" y="2058977"/>
            <a:ext cx="1237530" cy="1055578"/>
          </a:xfrm>
          <a:prstGeom prst="star5">
            <a:avLst/>
          </a:prstGeom>
          <a:noFill/>
          <a:ln w="28575">
            <a:solidFill>
              <a:srgbClr val="D500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8728274-C401-7309-74D9-81B8E4E04660}"/>
              </a:ext>
            </a:extLst>
          </p:cNvPr>
          <p:cNvSpPr txBox="1"/>
          <p:nvPr/>
        </p:nvSpPr>
        <p:spPr>
          <a:xfrm>
            <a:off x="1958835" y="2349540"/>
            <a:ext cx="6158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100" b="1" dirty="0" err="1"/>
              <a:t>Get</a:t>
            </a:r>
            <a:r>
              <a:rPr lang="de-CH" sz="1100" b="1" dirty="0"/>
              <a:t> </a:t>
            </a:r>
          </a:p>
          <a:p>
            <a:pPr algn="ctr"/>
            <a:r>
              <a:rPr lang="de-CH" sz="1100" b="1" dirty="0" err="1"/>
              <a:t>Started</a:t>
            </a:r>
            <a:endParaRPr lang="de-CH" sz="1100" b="1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FCF2D76-0ECE-E687-9725-98E7AFB75C22}"/>
              </a:ext>
            </a:extLst>
          </p:cNvPr>
          <p:cNvSpPr/>
          <p:nvPr/>
        </p:nvSpPr>
        <p:spPr>
          <a:xfrm>
            <a:off x="6515274" y="3289470"/>
            <a:ext cx="1529991" cy="6798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Wahl-CAS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2B24491-7215-52A9-E25D-42714D0EB736}"/>
              </a:ext>
            </a:extLst>
          </p:cNvPr>
          <p:cNvSpPr/>
          <p:nvPr/>
        </p:nvSpPr>
        <p:spPr>
          <a:xfrm>
            <a:off x="2961751" y="2487600"/>
            <a:ext cx="1523366" cy="6608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CAS Business &amp; Economics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D00B168-EFF5-E72D-AF25-634B38EAD88D}"/>
              </a:ext>
            </a:extLst>
          </p:cNvPr>
          <p:cNvSpPr/>
          <p:nvPr/>
        </p:nvSpPr>
        <p:spPr>
          <a:xfrm>
            <a:off x="4733505" y="2498042"/>
            <a:ext cx="1569252" cy="6608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CAS Business &amp; Economics </a:t>
            </a:r>
            <a:r>
              <a:rPr lang="de-CH" sz="1200" dirty="0" err="1"/>
              <a:t>Advanced</a:t>
            </a:r>
            <a:endParaRPr lang="de-CH" sz="1200" dirty="0"/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3B562215-7599-A80B-748C-49DE43FD5800}"/>
              </a:ext>
            </a:extLst>
          </p:cNvPr>
          <p:cNvSpPr/>
          <p:nvPr/>
        </p:nvSpPr>
        <p:spPr>
          <a:xfrm>
            <a:off x="2961751" y="3340130"/>
            <a:ext cx="1523366" cy="6608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CAS </a:t>
            </a:r>
          </a:p>
          <a:p>
            <a:pPr algn="ctr"/>
            <a:r>
              <a:rPr lang="de-CH" sz="1200" dirty="0"/>
              <a:t>Strategic Business</a:t>
            </a:r>
          </a:p>
          <a:p>
            <a:pPr algn="ctr"/>
            <a:r>
              <a:rPr lang="de-CH" sz="1200" dirty="0"/>
              <a:t>10 ECTS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0E5B6C3-1DCB-5E7B-BF1B-A0D37788122B}"/>
              </a:ext>
            </a:extLst>
          </p:cNvPr>
          <p:cNvCxnSpPr/>
          <p:nvPr/>
        </p:nvCxnSpPr>
        <p:spPr>
          <a:xfrm>
            <a:off x="2948565" y="5897537"/>
            <a:ext cx="69787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E35933EB-B5FE-01C0-A20C-27E00A5376A1}"/>
              </a:ext>
            </a:extLst>
          </p:cNvPr>
          <p:cNvSpPr txBox="1"/>
          <p:nvPr/>
        </p:nvSpPr>
        <p:spPr>
          <a:xfrm>
            <a:off x="5292051" y="5488672"/>
            <a:ext cx="2143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Normal Track 2 Jahre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B529D387-C48F-9A8B-B90D-06159010DCB0}"/>
              </a:ext>
            </a:extLst>
          </p:cNvPr>
          <p:cNvCxnSpPr>
            <a:cxnSpLocks/>
          </p:cNvCxnSpPr>
          <p:nvPr/>
        </p:nvCxnSpPr>
        <p:spPr>
          <a:xfrm>
            <a:off x="2959199" y="6234226"/>
            <a:ext cx="7596834" cy="100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E5FB1F26-AEF8-8F4F-1CE7-95EF27DA3B07}"/>
              </a:ext>
            </a:extLst>
          </p:cNvPr>
          <p:cNvSpPr txBox="1"/>
          <p:nvPr/>
        </p:nvSpPr>
        <p:spPr>
          <a:xfrm>
            <a:off x="5302686" y="5874978"/>
            <a:ext cx="2626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Flexible Track 2.5 - 3 Jahre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7663B5B-B2B8-1BC5-79C9-AC0968827775}"/>
              </a:ext>
            </a:extLst>
          </p:cNvPr>
          <p:cNvCxnSpPr>
            <a:cxnSpLocks/>
          </p:cNvCxnSpPr>
          <p:nvPr/>
        </p:nvCxnSpPr>
        <p:spPr>
          <a:xfrm>
            <a:off x="2958724" y="5480978"/>
            <a:ext cx="5334928" cy="76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D245B0EE-9EBC-F690-6E92-D5498A13DA5F}"/>
              </a:ext>
            </a:extLst>
          </p:cNvPr>
          <p:cNvSpPr txBox="1"/>
          <p:nvPr/>
        </p:nvSpPr>
        <p:spPr>
          <a:xfrm>
            <a:off x="5302211" y="5072112"/>
            <a:ext cx="199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Fast Track 1.5 Jahre</a:t>
            </a:r>
          </a:p>
        </p:txBody>
      </p:sp>
    </p:spTree>
    <p:extLst>
      <p:ext uri="{BB962C8B-B14F-4D97-AF65-F5344CB8AC3E}">
        <p14:creationId xmlns:p14="http://schemas.microsoft.com/office/powerpoint/2010/main" val="56128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F915-28C4-0A59-0689-4C296B1F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6B580-B5A3-FF8E-8C93-DE69AA82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84" y="429581"/>
            <a:ext cx="8188037" cy="1009651"/>
          </a:xfrm>
        </p:spPr>
        <p:txBody>
          <a:bodyPr>
            <a:normAutofit fontScale="90000"/>
          </a:bodyPr>
          <a:lstStyle/>
          <a:p>
            <a:r>
              <a:rPr lang="de-CH" dirty="0"/>
              <a:t>EMBA Curriculum 2025 der Zukunft</a:t>
            </a:r>
            <a:br>
              <a:rPr lang="de-CH" dirty="0"/>
            </a:br>
            <a:r>
              <a:rPr lang="de-CH" dirty="0"/>
              <a:t>Die einzelnen CAS</a:t>
            </a:r>
            <a:br>
              <a:rPr lang="de-CH" sz="1800" dirty="0">
                <a:solidFill>
                  <a:schemeClr val="tx1"/>
                </a:solidFill>
              </a:rPr>
            </a:b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25E597-5538-A367-99EC-19D1FEF7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C21FBE-8906-889E-D97D-1B0860D5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C3617-9A4A-7681-1302-445DF55D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4575" y="6364756"/>
            <a:ext cx="750499" cy="393930"/>
          </a:xfrm>
        </p:spPr>
        <p:txBody>
          <a:bodyPr/>
          <a:lstStyle/>
          <a:p>
            <a:fld id="{D704E467-C06D-4A7A-98D0-E1E00465E11C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7BDDC32-22C7-A8D0-3859-29545C2FB7CD}"/>
              </a:ext>
            </a:extLst>
          </p:cNvPr>
          <p:cNvSpPr/>
          <p:nvPr/>
        </p:nvSpPr>
        <p:spPr>
          <a:xfrm>
            <a:off x="2958517" y="1322107"/>
            <a:ext cx="6968819" cy="6750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Executive MBA (60 ECTS)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5DBD9F1-CF7A-C785-C86B-C318F05BDEFF}"/>
              </a:ext>
            </a:extLst>
          </p:cNvPr>
          <p:cNvSpPr/>
          <p:nvPr/>
        </p:nvSpPr>
        <p:spPr>
          <a:xfrm>
            <a:off x="2958517" y="5866961"/>
            <a:ext cx="3308370" cy="36932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DAS in General Management 30 ECTS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42C9256-0BB8-3209-A5CD-106DCDB6EE1B}"/>
              </a:ext>
            </a:extLst>
          </p:cNvPr>
          <p:cNvSpPr/>
          <p:nvPr/>
        </p:nvSpPr>
        <p:spPr>
          <a:xfrm>
            <a:off x="8293652" y="2485590"/>
            <a:ext cx="1633684" cy="67500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Masterthesis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1394E8E-2FF3-094A-0517-EE35A641B5B1}"/>
              </a:ext>
            </a:extLst>
          </p:cNvPr>
          <p:cNvSpPr/>
          <p:nvPr/>
        </p:nvSpPr>
        <p:spPr>
          <a:xfrm>
            <a:off x="6515274" y="2493933"/>
            <a:ext cx="1529991" cy="67500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CAS LS oder </a:t>
            </a:r>
            <a:r>
              <a:rPr lang="de-CH" sz="1200" dirty="0" err="1"/>
              <a:t>Mgt</a:t>
            </a:r>
            <a:r>
              <a:rPr lang="de-CH" sz="1200" dirty="0"/>
              <a:t>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2FAB42-C6B8-F566-3268-3F4A137CA676}"/>
              </a:ext>
            </a:extLst>
          </p:cNvPr>
          <p:cNvSpPr/>
          <p:nvPr/>
        </p:nvSpPr>
        <p:spPr>
          <a:xfrm>
            <a:off x="2958517" y="2118206"/>
            <a:ext cx="1529992" cy="2546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1. Semester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A43FB42-E0DD-2699-875C-58D86D733443}"/>
              </a:ext>
            </a:extLst>
          </p:cNvPr>
          <p:cNvSpPr/>
          <p:nvPr/>
        </p:nvSpPr>
        <p:spPr>
          <a:xfrm>
            <a:off x="4736895" y="2118206"/>
            <a:ext cx="1529992" cy="2546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2. Semester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4A09578-83D3-503C-03C4-A5053D183ED1}"/>
              </a:ext>
            </a:extLst>
          </p:cNvPr>
          <p:cNvSpPr/>
          <p:nvPr/>
        </p:nvSpPr>
        <p:spPr>
          <a:xfrm>
            <a:off x="6515273" y="2118206"/>
            <a:ext cx="1529992" cy="25460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3. Semester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F190B1-30EC-2DD6-A705-6501E72A9A07}"/>
              </a:ext>
            </a:extLst>
          </p:cNvPr>
          <p:cNvSpPr/>
          <p:nvPr/>
        </p:nvSpPr>
        <p:spPr>
          <a:xfrm>
            <a:off x="8293653" y="2118206"/>
            <a:ext cx="1633683" cy="25460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4. Semester</a:t>
            </a:r>
          </a:p>
        </p:txBody>
      </p:sp>
      <p:sp>
        <p:nvSpPr>
          <p:cNvPr id="37" name="Stern: 5 Zacken 36">
            <a:extLst>
              <a:ext uri="{FF2B5EF4-FFF2-40B4-BE49-F238E27FC236}">
                <a16:creationId xmlns:a16="http://schemas.microsoft.com/office/drawing/2014/main" id="{403F889A-4398-9266-ED5B-B963554A1EFF}"/>
              </a:ext>
            </a:extLst>
          </p:cNvPr>
          <p:cNvSpPr/>
          <p:nvPr/>
        </p:nvSpPr>
        <p:spPr>
          <a:xfrm>
            <a:off x="1648007" y="2058977"/>
            <a:ext cx="1237530" cy="1055578"/>
          </a:xfrm>
          <a:prstGeom prst="star5">
            <a:avLst/>
          </a:prstGeom>
          <a:noFill/>
          <a:ln w="28575">
            <a:solidFill>
              <a:srgbClr val="D500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8728274-C401-7309-74D9-81B8E4E04660}"/>
              </a:ext>
            </a:extLst>
          </p:cNvPr>
          <p:cNvSpPr txBox="1"/>
          <p:nvPr/>
        </p:nvSpPr>
        <p:spPr>
          <a:xfrm>
            <a:off x="1958835" y="2349540"/>
            <a:ext cx="6158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100" b="1" dirty="0" err="1"/>
              <a:t>Get</a:t>
            </a:r>
            <a:r>
              <a:rPr lang="de-CH" sz="1100" b="1" dirty="0"/>
              <a:t> </a:t>
            </a:r>
          </a:p>
          <a:p>
            <a:pPr algn="ctr"/>
            <a:r>
              <a:rPr lang="de-CH" sz="1100" b="1" dirty="0" err="1"/>
              <a:t>Started</a:t>
            </a:r>
            <a:endParaRPr lang="de-CH" sz="1100" b="1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FCF2D76-0ECE-E687-9725-98E7AFB75C22}"/>
              </a:ext>
            </a:extLst>
          </p:cNvPr>
          <p:cNvSpPr/>
          <p:nvPr/>
        </p:nvSpPr>
        <p:spPr>
          <a:xfrm>
            <a:off x="6515274" y="4787931"/>
            <a:ext cx="1529991" cy="67987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Wahl-CAS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2B24491-7215-52A9-E25D-42714D0EB736}"/>
              </a:ext>
            </a:extLst>
          </p:cNvPr>
          <p:cNvSpPr/>
          <p:nvPr/>
        </p:nvSpPr>
        <p:spPr>
          <a:xfrm>
            <a:off x="2961751" y="2487600"/>
            <a:ext cx="1523366" cy="6608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CAS Business &amp; Economics </a:t>
            </a:r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D00B168-EFF5-E72D-AF25-634B38EAD88D}"/>
              </a:ext>
            </a:extLst>
          </p:cNvPr>
          <p:cNvSpPr/>
          <p:nvPr/>
        </p:nvSpPr>
        <p:spPr>
          <a:xfrm>
            <a:off x="4733505" y="2498042"/>
            <a:ext cx="1569252" cy="6608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/>
              <a:t>CAS Business &amp; Economics </a:t>
            </a:r>
            <a:r>
              <a:rPr lang="de-CH" sz="1200" dirty="0" err="1"/>
              <a:t>Advanced</a:t>
            </a:r>
            <a:endParaRPr lang="de-CH" sz="1200" dirty="0"/>
          </a:p>
          <a:p>
            <a:pPr algn="ctr"/>
            <a:r>
              <a:rPr lang="de-CH" sz="1200" dirty="0"/>
              <a:t>10 ECTS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3B562215-7599-A80B-748C-49DE43FD5800}"/>
              </a:ext>
            </a:extLst>
          </p:cNvPr>
          <p:cNvSpPr/>
          <p:nvPr/>
        </p:nvSpPr>
        <p:spPr>
          <a:xfrm>
            <a:off x="2961751" y="4787930"/>
            <a:ext cx="1523366" cy="6608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dirty="0"/>
              <a:t>CAS </a:t>
            </a:r>
          </a:p>
          <a:p>
            <a:pPr algn="ctr"/>
            <a:r>
              <a:rPr lang="de-CH" sz="1000" dirty="0"/>
              <a:t>«Strategic Business»</a:t>
            </a:r>
          </a:p>
          <a:p>
            <a:pPr algn="ctr"/>
            <a:r>
              <a:rPr lang="de-CH" sz="1000" dirty="0"/>
              <a:t>10 ECTS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18C97B0-3DC3-6FE2-2C4A-A6D9DAC04D48}"/>
              </a:ext>
            </a:extLst>
          </p:cNvPr>
          <p:cNvSpPr txBox="1"/>
          <p:nvPr/>
        </p:nvSpPr>
        <p:spPr>
          <a:xfrm>
            <a:off x="6480199" y="3212080"/>
            <a:ext cx="3920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Leadership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Persuasive Communication (5 ECTS)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New Leadership Approach (5 ECTS)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Oder flexible Zusammenstellung von SAS aus Angebot Hannah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08CDF1D-BACA-A7A1-3502-7BAB114254CC}"/>
              </a:ext>
            </a:extLst>
          </p:cNvPr>
          <p:cNvSpPr txBox="1"/>
          <p:nvPr/>
        </p:nvSpPr>
        <p:spPr>
          <a:xfrm>
            <a:off x="6442926" y="3979328"/>
            <a:ext cx="392061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Management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Innovation Management  inkl. Unternehmensbesuch (5 ECTS)</a:t>
            </a:r>
          </a:p>
          <a:p>
            <a:pPr marL="285750" indent="-285750">
              <a:buFontTx/>
              <a:buChar char="-"/>
            </a:pPr>
            <a:r>
              <a:rPr lang="de-CH" sz="1050" dirty="0"/>
              <a:t>Business </a:t>
            </a:r>
            <a:r>
              <a:rPr lang="de-CH" sz="1050" dirty="0" err="1"/>
              <a:t>Process</a:t>
            </a:r>
            <a:r>
              <a:rPr lang="de-CH" sz="1050" dirty="0"/>
              <a:t> Management (5 ECTS)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C887620-4B49-A520-F6CE-BB7E5FAF2D1D}"/>
              </a:ext>
            </a:extLst>
          </p:cNvPr>
          <p:cNvSpPr txBox="1"/>
          <p:nvPr/>
        </p:nvSpPr>
        <p:spPr>
          <a:xfrm>
            <a:off x="8045264" y="4739047"/>
            <a:ext cx="2221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Blockchain</a:t>
            </a:r>
          </a:p>
          <a:p>
            <a:r>
              <a:rPr lang="de-CH" sz="1050" b="1" dirty="0"/>
              <a:t>CAS Compliance </a:t>
            </a:r>
          </a:p>
          <a:p>
            <a:r>
              <a:rPr lang="de-CH" sz="1050" b="1" dirty="0"/>
              <a:t>CAS Vertrags- und Handelsrecht </a:t>
            </a:r>
          </a:p>
          <a:p>
            <a:r>
              <a:rPr lang="de-CH" sz="1050" b="1" dirty="0"/>
              <a:t>CAS Industrie 4.0</a:t>
            </a:r>
          </a:p>
          <a:p>
            <a:endParaRPr lang="de-CH" sz="1050" b="1" dirty="0"/>
          </a:p>
          <a:p>
            <a:endParaRPr lang="de-CH" sz="1050" b="1" dirty="0"/>
          </a:p>
          <a:p>
            <a:endParaRPr lang="de-CH" sz="1050" b="1" dirty="0"/>
          </a:p>
          <a:p>
            <a:endParaRPr lang="de-CH" sz="1050" b="1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A81E353-E7EB-7A11-9238-C10825E1E172}"/>
              </a:ext>
            </a:extLst>
          </p:cNvPr>
          <p:cNvSpPr txBox="1"/>
          <p:nvPr/>
        </p:nvSpPr>
        <p:spPr>
          <a:xfrm>
            <a:off x="2959759" y="3204460"/>
            <a:ext cx="29923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Business &amp; Economics</a:t>
            </a:r>
          </a:p>
          <a:p>
            <a:r>
              <a:rPr lang="de-CH" sz="1050" dirty="0"/>
              <a:t>BWL 3 inkl. /exkl. Unternehmensbesuch und Economics (3 -2 ECTS – mit neuem Namen/ Kürzel)</a:t>
            </a:r>
          </a:p>
          <a:p>
            <a:r>
              <a:rPr lang="de-CH" sz="1050" dirty="0"/>
              <a:t>Management Accounting (5 ECTS)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5F6D8DD-2B71-480D-CEA3-DAF3F58B874D}"/>
              </a:ext>
            </a:extLst>
          </p:cNvPr>
          <p:cNvSpPr txBox="1"/>
          <p:nvPr/>
        </p:nvSpPr>
        <p:spPr>
          <a:xfrm>
            <a:off x="2885538" y="3943124"/>
            <a:ext cx="392061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Business &amp; Economics </a:t>
            </a:r>
            <a:r>
              <a:rPr lang="de-CH" sz="1050" b="1" dirty="0" err="1"/>
              <a:t>Advanced</a:t>
            </a:r>
            <a:endParaRPr lang="de-CH" sz="1050" b="1" dirty="0"/>
          </a:p>
          <a:p>
            <a:r>
              <a:rPr lang="de-CH" sz="1050" dirty="0" err="1"/>
              <a:t>Operations</a:t>
            </a:r>
            <a:r>
              <a:rPr lang="de-CH" sz="1050" dirty="0"/>
              <a:t> Management (4 ECTS)</a:t>
            </a:r>
          </a:p>
          <a:p>
            <a:r>
              <a:rPr lang="de-CH" sz="1050" dirty="0"/>
              <a:t>Marketing </a:t>
            </a:r>
            <a:r>
              <a:rPr lang="de-CH" sz="1050" dirty="0" err="1"/>
              <a:t>for</a:t>
            </a:r>
            <a:r>
              <a:rPr lang="de-CH" sz="1050" dirty="0"/>
              <a:t> </a:t>
            </a:r>
            <a:r>
              <a:rPr lang="de-CH" sz="1050" dirty="0" err="1"/>
              <a:t>Executives</a:t>
            </a:r>
            <a:r>
              <a:rPr lang="de-CH" sz="1050" dirty="0"/>
              <a:t> (3 ECTS)</a:t>
            </a:r>
          </a:p>
          <a:p>
            <a:r>
              <a:rPr lang="de-CH" sz="1050" dirty="0"/>
              <a:t>Strategic Human Resources (3 ECTS)</a:t>
            </a:r>
          </a:p>
          <a:p>
            <a:endParaRPr lang="de-CH" sz="105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C59AA42-8B48-EB1C-0153-EC040F59B2C3}"/>
              </a:ext>
            </a:extLst>
          </p:cNvPr>
          <p:cNvSpPr txBox="1"/>
          <p:nvPr/>
        </p:nvSpPr>
        <p:spPr>
          <a:xfrm>
            <a:off x="4485118" y="4721039"/>
            <a:ext cx="392061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/>
              <a:t>CAS Strategic Business</a:t>
            </a:r>
          </a:p>
          <a:p>
            <a:r>
              <a:rPr lang="de-CH" sz="1050" dirty="0"/>
              <a:t>Strategic Management (5 ECTS) </a:t>
            </a:r>
          </a:p>
          <a:p>
            <a:r>
              <a:rPr lang="de-CH" sz="1050" dirty="0"/>
              <a:t>inkl. Agiles Arbeiten / Change </a:t>
            </a:r>
          </a:p>
          <a:p>
            <a:r>
              <a:rPr lang="de-CH" sz="1050" dirty="0"/>
              <a:t>Management / Value Chain</a:t>
            </a:r>
          </a:p>
          <a:p>
            <a:r>
              <a:rPr lang="de-CH" sz="1050" dirty="0"/>
              <a:t>Negotiation (5 ECTS)</a:t>
            </a:r>
          </a:p>
          <a:p>
            <a:endParaRPr lang="de-CH" sz="1050" dirty="0"/>
          </a:p>
        </p:txBody>
      </p:sp>
    </p:spTree>
    <p:extLst>
      <p:ext uri="{BB962C8B-B14F-4D97-AF65-F5344CB8AC3E}">
        <p14:creationId xmlns:p14="http://schemas.microsoft.com/office/powerpoint/2010/main" val="515520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F915-28C4-0A59-0689-4C296B1F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25E597-5538-A367-99EC-19D1FEF7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C21FBE-8906-889E-D97D-1B0860D5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C3617-9A4A-7681-1302-445DF55D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4575" y="6364756"/>
            <a:ext cx="750499" cy="393930"/>
          </a:xfrm>
        </p:spPr>
        <p:txBody>
          <a:bodyPr/>
          <a:lstStyle/>
          <a:p>
            <a:fld id="{D704E467-C06D-4A7A-98D0-E1E00465E11C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886C321-A7D4-D7DC-D0BF-77A89A23129C}"/>
              </a:ext>
            </a:extLst>
          </p:cNvPr>
          <p:cNvSpPr txBox="1">
            <a:spLocks/>
          </p:cNvSpPr>
          <p:nvPr/>
        </p:nvSpPr>
        <p:spPr>
          <a:xfrm>
            <a:off x="2347884" y="4821891"/>
            <a:ext cx="8188037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 err="1"/>
              <a:t>Berufsbegleitend.Persönlich.Anerkannt</a:t>
            </a:r>
            <a:endParaRPr lang="de-CH" dirty="0">
              <a:solidFill>
                <a:schemeClr val="tx1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A701D29-0506-5571-B86D-A511E98C7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328" y="1592824"/>
            <a:ext cx="3977985" cy="3200677"/>
          </a:xfrm>
          <a:prstGeom prst="rect">
            <a:avLst/>
          </a:prstGeom>
        </p:spPr>
      </p:pic>
      <p:sp>
        <p:nvSpPr>
          <p:cNvPr id="17" name="Titel 1">
            <a:extLst>
              <a:ext uri="{FF2B5EF4-FFF2-40B4-BE49-F238E27FC236}">
                <a16:creationId xmlns:a16="http://schemas.microsoft.com/office/drawing/2014/main" id="{07ABE4AA-8452-A7EE-33A7-D2183A5118AD}"/>
              </a:ext>
            </a:extLst>
          </p:cNvPr>
          <p:cNvSpPr txBox="1">
            <a:spLocks/>
          </p:cNvSpPr>
          <p:nvPr/>
        </p:nvSpPr>
        <p:spPr>
          <a:xfrm>
            <a:off x="2001981" y="285796"/>
            <a:ext cx="8188037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b="1" dirty="0"/>
              <a:t>EMBA der Zukunft an der FFHS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0798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852374-BA66-D217-4447-F2979DBE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463" y="1578910"/>
            <a:ext cx="8188037" cy="1009651"/>
          </a:xfrm>
        </p:spPr>
        <p:txBody>
          <a:bodyPr/>
          <a:lstStyle/>
          <a:p>
            <a:r>
              <a:rPr lang="de-CH" b="1" dirty="0"/>
              <a:t>Vielen Dank für die Aufmerksamkeit!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238909-5957-0429-6772-D3703E04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23.05.2024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760DD0-4AF3-82D8-C4E0-8678CED0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Info-Anlass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3D89FA-76E9-A2D4-A3D5-8E9ABB4D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16</a:t>
            </a:fld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1CCF0D-CF34-BD29-5F92-649B9EC6F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459" y="3429000"/>
            <a:ext cx="5019040" cy="232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40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F915-28C4-0A59-0689-4C296B1F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6B580-B5A3-FF8E-8C93-DE69AA82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84" y="429581"/>
            <a:ext cx="8188037" cy="1009651"/>
          </a:xfrm>
        </p:spPr>
        <p:txBody>
          <a:bodyPr>
            <a:normAutofit/>
          </a:bodyPr>
          <a:lstStyle/>
          <a:p>
            <a:r>
              <a:rPr lang="de-CH" dirty="0"/>
              <a:t>Das CAS Leadership</a:t>
            </a:r>
            <a:br>
              <a:rPr lang="de-CH" sz="1800" dirty="0">
                <a:solidFill>
                  <a:schemeClr val="tx1"/>
                </a:solidFill>
              </a:rPr>
            </a:br>
            <a:endParaRPr lang="de-CH" dirty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25E597-5538-A367-99EC-19D1FEF7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C21FBE-8906-889E-D97D-1B0860D5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C3617-9A4A-7681-1302-445DF55D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4575" y="6364756"/>
            <a:ext cx="750499" cy="393930"/>
          </a:xfrm>
        </p:spPr>
        <p:txBody>
          <a:bodyPr/>
          <a:lstStyle/>
          <a:p>
            <a:fld id="{D704E467-C06D-4A7A-98D0-E1E00465E11C}" type="slidenum">
              <a:rPr lang="de-CH" smtClean="0"/>
              <a:pPr/>
              <a:t>17</a:t>
            </a:fld>
            <a:endParaRPr lang="de-CH" dirty="0"/>
          </a:p>
        </p:txBody>
      </p:sp>
      <p:pic>
        <p:nvPicPr>
          <p:cNvPr id="9" name="Grafik 8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961559E1-4E6A-2B75-3556-1E7B78A79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702" y="1439231"/>
            <a:ext cx="6027538" cy="432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95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46DB5623-CEF7-4893-A4CE-F8E6898DB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6000" y="3429000"/>
            <a:ext cx="8239538" cy="845848"/>
          </a:xfrm>
        </p:spPr>
        <p:txBody>
          <a:bodyPr/>
          <a:lstStyle/>
          <a:p>
            <a:pPr algn="ctr"/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Aktueller Stand</a:t>
            </a:r>
          </a:p>
          <a:p>
            <a:pPr algn="ctr"/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Oktober 2024, Anette &amp; Olivia</a:t>
            </a:r>
            <a:endParaRPr lang="de-CH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55FBB3-80C8-45C7-9348-5C3C04A0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012" y="124856"/>
            <a:ext cx="6858000" cy="2921002"/>
          </a:xfrm>
        </p:spPr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Konzept Beratungsangebot</a:t>
            </a:r>
            <a:endParaRPr lang="de-CH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52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CH" sz="3200"/>
              <a:t>Ziele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36600" y="1295402"/>
            <a:ext cx="10900508" cy="472282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de-CH" sz="2000" b="1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Ziel Konzept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CH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Vorschlag eines konkreten Beratungsangebot für Studierende, welches in einem nächsten Schritt als Pilotprojekt umgesetzt werden kann.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CH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Welches konkrete Beratungsangebot für Studierende für den Start am sinnvollsten ist, wurde anhand einer Konkurrenzanalyse sowie einer Umfrage mit</a:t>
            </a:r>
            <a:r>
              <a:rPr lang="de-CH" sz="1800" dirty="0">
                <a:latin typeface="Arial" panose="020B0604020202020204" pitchFamily="34" charset="0"/>
                <a:ea typeface="Times New Roman" panose="02020603050405020304" pitchFamily="18" charset="0"/>
              </a:rPr>
              <a:t> den</a:t>
            </a:r>
            <a:r>
              <a:rPr lang="de-CH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Studierenden der FFHS ermittelt.</a:t>
            </a:r>
            <a:endParaRPr lang="de-CH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de-CH" sz="2000" b="1" dirty="0">
                <a:solidFill>
                  <a:srgbClr val="7030A0"/>
                </a:solidFill>
                <a:effectLst/>
                <a:ea typeface="Times New Roman" panose="02020603050405020304" pitchFamily="18" charset="0"/>
              </a:rPr>
              <a:t>Ziel Beratungsangebot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de-CH" sz="1800" dirty="0">
                <a:latin typeface="Arial" panose="020B0604020202020204" pitchFamily="34" charset="0"/>
                <a:ea typeface="Times New Roman" panose="02020603050405020304" pitchFamily="18" charset="0"/>
              </a:rPr>
              <a:t>G</a:t>
            </a:r>
            <a:r>
              <a:rPr lang="de-CH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anzheitliche Unterstützung Studierender, um ihre akademischen, beruflichen und persönlichen Herausforderungen erfolgreich zu meistern und die Abbruchquote zu minimieren.</a:t>
            </a:r>
            <a:endParaRPr lang="de-CH" sz="1700" dirty="0"/>
          </a:p>
          <a:p>
            <a:pPr marL="0" indent="0">
              <a:spcAft>
                <a:spcPts val="800"/>
              </a:spcAft>
              <a:buNone/>
            </a:pPr>
            <a:r>
              <a:rPr lang="de-CH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19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</p:spTree>
    <p:extLst>
      <p:ext uri="{BB962C8B-B14F-4D97-AF65-F5344CB8AC3E}">
        <p14:creationId xmlns:p14="http://schemas.microsoft.com/office/powerpoint/2010/main" val="3004763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CH" sz="3200"/>
              <a:t>Nutzen/Vorteile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36600" y="1341564"/>
            <a:ext cx="4929554" cy="45199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2200" b="1" dirty="0">
                <a:solidFill>
                  <a:srgbClr val="7030A0"/>
                </a:solidFill>
              </a:rPr>
              <a:t>FFHS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ffectLst/>
                <a:ea typeface="Times New Roman" panose="02020603050405020304" pitchFamily="18" charset="0"/>
              </a:rPr>
              <a:t>Tiefere </a:t>
            </a:r>
            <a:r>
              <a:rPr lang="de-CH" sz="1800" dirty="0" err="1">
                <a:effectLst/>
                <a:ea typeface="Times New Roman" panose="02020603050405020304" pitchFamily="18" charset="0"/>
              </a:rPr>
              <a:t>Dropoutquote</a:t>
            </a:r>
            <a:r>
              <a:rPr lang="de-CH" sz="1800" dirty="0">
                <a:effectLst/>
                <a:ea typeface="Times New Roman" panose="02020603050405020304" pitchFamily="18" charset="0"/>
              </a:rPr>
              <a:t> in Studiengängen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ffectLst/>
                <a:ea typeface="Times New Roman" panose="02020603050405020304" pitchFamily="18" charset="0"/>
              </a:rPr>
              <a:t>Anbindung an Studiengänge – Community Gedanke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ffectLst/>
                <a:ea typeface="Times New Roman" panose="02020603050405020304" pitchFamily="18" charset="0"/>
              </a:rPr>
              <a:t>Entlastung Fachabteilungen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a typeface="Times New Roman" panose="02020603050405020304" pitchFamily="18" charset="0"/>
              </a:rPr>
              <a:t>Wirkt sich positiv auf die Reputation aus</a:t>
            </a:r>
            <a:endParaRPr lang="de-CH" sz="1800" dirty="0">
              <a:effectLst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de-CH" sz="2900" b="1" dirty="0">
              <a:solidFill>
                <a:srgbClr val="7030A0"/>
              </a:solidFill>
            </a:endParaRPr>
          </a:p>
          <a:p>
            <a:pPr marL="457200" lvl="1" indent="0">
              <a:buNone/>
            </a:pPr>
            <a:endParaRPr lang="de-CH" sz="29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2900" b="1" dirty="0">
              <a:solidFill>
                <a:srgbClr val="7030A0"/>
              </a:solidFill>
            </a:endParaRPr>
          </a:p>
          <a:p>
            <a:pPr marL="457200" lvl="1" indent="0">
              <a:buNone/>
            </a:pPr>
            <a:endParaRPr lang="de-CH" sz="1700" dirty="0"/>
          </a:p>
          <a:p>
            <a:pPr marL="0" indent="0">
              <a:spcAft>
                <a:spcPts val="800"/>
              </a:spcAft>
              <a:buNone/>
            </a:pPr>
            <a:r>
              <a:rPr lang="de-CH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20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436032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de-CH" sz="1700"/>
              <a:t>	</a:t>
            </a:r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9568D1D-90C5-09CA-4791-8938E6B7EE3A}"/>
              </a:ext>
            </a:extLst>
          </p:cNvPr>
          <p:cNvSpPr txBox="1">
            <a:spLocks/>
          </p:cNvSpPr>
          <p:nvPr/>
        </p:nvSpPr>
        <p:spPr>
          <a:xfrm>
            <a:off x="736600" y="3525937"/>
            <a:ext cx="4929554" cy="4519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2200" b="1" dirty="0">
                <a:solidFill>
                  <a:srgbClr val="7030A0"/>
                </a:solidFill>
              </a:rPr>
              <a:t>Studierende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ffectLst/>
                <a:ea typeface="Times New Roman" panose="02020603050405020304" pitchFamily="18" charset="0"/>
              </a:rPr>
              <a:t>Fühlen sich abgeholt und unterstützt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ffectLst/>
                <a:ea typeface="Times New Roman" panose="02020603050405020304" pitchFamily="18" charset="0"/>
              </a:rPr>
              <a:t>Neutrale Anlaufstelle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a typeface="Times New Roman" panose="02020603050405020304" pitchFamily="18" charset="0"/>
              </a:rPr>
              <a:t>Förderung Studienerfolg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r>
              <a:rPr lang="de-CH" sz="1800" dirty="0">
                <a:effectLst/>
                <a:ea typeface="Times New Roman" panose="02020603050405020304" pitchFamily="18" charset="0"/>
              </a:rPr>
              <a:t>Unterstützung bei beruflicher Entwicklung</a:t>
            </a:r>
          </a:p>
          <a:p>
            <a:pPr marL="800100" lvl="1" indent="-342900">
              <a:buFont typeface="Symbol" panose="05050102010706020507" pitchFamily="18" charset="2"/>
              <a:buChar char=""/>
            </a:pPr>
            <a:endParaRPr lang="de-CH" sz="1400" dirty="0">
              <a:effectLst/>
              <a:ea typeface="Times New Roman" panose="02020603050405020304" pitchFamily="18" charset="0"/>
            </a:endParaRPr>
          </a:p>
          <a:p>
            <a:pPr marL="800100" lvl="1" indent="-342900">
              <a:buFont typeface="Symbol" panose="05050102010706020507" pitchFamily="18" charset="2"/>
              <a:buChar char=""/>
            </a:pPr>
            <a:endParaRPr lang="de-CH" sz="1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de-CH" sz="2200" b="1" dirty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sz="2900" b="1" dirty="0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 dirty="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 dirty="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 dirty="0"/>
          </a:p>
        </p:txBody>
      </p:sp>
    </p:spTree>
    <p:extLst>
      <p:ext uri="{BB962C8B-B14F-4D97-AF65-F5344CB8AC3E}">
        <p14:creationId xmlns:p14="http://schemas.microsoft.com/office/powerpoint/2010/main" val="2914300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Konkurrenzanalyse</a:t>
            </a:r>
            <a:endParaRPr lang="de-CH" sz="32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21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47E0527-C30D-037E-0012-A478E270876F}"/>
              </a:ext>
            </a:extLst>
          </p:cNvPr>
          <p:cNvSpPr txBox="1"/>
          <p:nvPr/>
        </p:nvSpPr>
        <p:spPr>
          <a:xfrm>
            <a:off x="736600" y="1353949"/>
            <a:ext cx="1091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Für die Konkurrenzanalyse wurden die 8 eidgenössischen vom Bund subventionierten Fachhochschulen mit der FFHS sowie ein paar weitere Fernhochschulen im Ausland verglichen. 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50BC91F7-B7BA-A403-11A6-3AF767344E7A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366128"/>
          <a:ext cx="10358445" cy="32993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04998">
                  <a:extLst>
                    <a:ext uri="{9D8B030D-6E8A-4147-A177-3AD203B41FA5}">
                      <a16:colId xmlns:a16="http://schemas.microsoft.com/office/drawing/2014/main" val="4046800691"/>
                    </a:ext>
                  </a:extLst>
                </a:gridCol>
                <a:gridCol w="2853447">
                  <a:extLst>
                    <a:ext uri="{9D8B030D-6E8A-4147-A177-3AD203B41FA5}">
                      <a16:colId xmlns:a16="http://schemas.microsoft.com/office/drawing/2014/main" val="4104948700"/>
                    </a:ext>
                  </a:extLst>
                </a:gridCol>
              </a:tblGrid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Anzahl Studierende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6615859"/>
                  </a:ext>
                </a:extLst>
              </a:tr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BFH: Berner Fachhochschule 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7847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2395599"/>
                  </a:ext>
                </a:extLst>
              </a:tr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HSLU: Hochschule Luzern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7938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9657548"/>
                  </a:ext>
                </a:extLst>
              </a:tr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ZHAW: Zürcher Hochschule der angewandten Wissenschaften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14462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1690557"/>
                  </a:ext>
                </a:extLst>
              </a:tr>
              <a:tr h="296084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ZHDK: Zürcher Hochschule der Künste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2481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9199457"/>
                  </a:ext>
                </a:extLst>
              </a:tr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 Ost: Fachhochschule Ostschweiz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5300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7586700"/>
                  </a:ext>
                </a:extLst>
              </a:tr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 GR: Fachhochschule Graubünden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2313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8321772"/>
                  </a:ext>
                </a:extLst>
              </a:tr>
              <a:tr h="311418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FHNW: Fachhochschule Nordwestschweiz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12’000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8697263"/>
                  </a:ext>
                </a:extLst>
              </a:tr>
              <a:tr h="401069">
                <a:tc>
                  <a:txBody>
                    <a:bodyPr/>
                    <a:lstStyle/>
                    <a:p>
                      <a:r>
                        <a:rPr lang="fr-CH" sz="1600">
                          <a:effectLst/>
                        </a:rPr>
                        <a:t>SUPSI: Scuola universitaria professionale della Svizzera italiana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5376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757385"/>
                  </a:ext>
                </a:extLst>
              </a:tr>
              <a:tr h="422302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FFHS: Fernfachhochschule Schweiz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3300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1240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64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Konkurrenzanalyse</a:t>
            </a:r>
            <a:endParaRPr lang="de-CH" sz="32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22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D491FD97-D3D4-C401-18B6-C0B093CD0C61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1478604"/>
          <a:ext cx="10805809" cy="44617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8219">
                  <a:extLst>
                    <a:ext uri="{9D8B030D-6E8A-4147-A177-3AD203B41FA5}">
                      <a16:colId xmlns:a16="http://schemas.microsoft.com/office/drawing/2014/main" val="4074170420"/>
                    </a:ext>
                  </a:extLst>
                </a:gridCol>
                <a:gridCol w="1819190">
                  <a:extLst>
                    <a:ext uri="{9D8B030D-6E8A-4147-A177-3AD203B41FA5}">
                      <a16:colId xmlns:a16="http://schemas.microsoft.com/office/drawing/2014/main" val="1749608758"/>
                    </a:ext>
                  </a:extLst>
                </a:gridCol>
                <a:gridCol w="1802664">
                  <a:extLst>
                    <a:ext uri="{9D8B030D-6E8A-4147-A177-3AD203B41FA5}">
                      <a16:colId xmlns:a16="http://schemas.microsoft.com/office/drawing/2014/main" val="689450704"/>
                    </a:ext>
                  </a:extLst>
                </a:gridCol>
                <a:gridCol w="1801391">
                  <a:extLst>
                    <a:ext uri="{9D8B030D-6E8A-4147-A177-3AD203B41FA5}">
                      <a16:colId xmlns:a16="http://schemas.microsoft.com/office/drawing/2014/main" val="2056959264"/>
                    </a:ext>
                  </a:extLst>
                </a:gridCol>
                <a:gridCol w="1261101">
                  <a:extLst>
                    <a:ext uri="{9D8B030D-6E8A-4147-A177-3AD203B41FA5}">
                      <a16:colId xmlns:a16="http://schemas.microsoft.com/office/drawing/2014/main" val="772263233"/>
                    </a:ext>
                  </a:extLst>
                </a:gridCol>
                <a:gridCol w="1723844">
                  <a:extLst>
                    <a:ext uri="{9D8B030D-6E8A-4147-A177-3AD203B41FA5}">
                      <a16:colId xmlns:a16="http://schemas.microsoft.com/office/drawing/2014/main" val="1749350067"/>
                    </a:ext>
                  </a:extLst>
                </a:gridCol>
                <a:gridCol w="1159400">
                  <a:extLst>
                    <a:ext uri="{9D8B030D-6E8A-4147-A177-3AD203B41FA5}">
                      <a16:colId xmlns:a16="http://schemas.microsoft.com/office/drawing/2014/main" val="823436885"/>
                    </a:ext>
                  </a:extLst>
                </a:gridCol>
              </a:tblGrid>
              <a:tr h="24211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6"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Beratungsangebot für Studierende (Formate)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301154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 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Workshops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Individuelle Beratung 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Info zur Selbsthilfe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Events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Mentoring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4219521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BFH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738294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HSLU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6204056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ZHAW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5898112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ZHDK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589476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 Ost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8120487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 GR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9151637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FHNW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0636532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SUPSI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4856774"/>
                  </a:ext>
                </a:extLst>
              </a:tr>
              <a:tr h="387377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FFHS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kostenlos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3894056"/>
                  </a:ext>
                </a:extLst>
              </a:tr>
              <a:tr h="24211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Total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6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8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9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6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6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000">
                          <a:effectLst/>
                        </a:rPr>
                        <a:t> </a:t>
                      </a:r>
                      <a:endParaRPr lang="de-CH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195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811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Konkurrenzanalyse</a:t>
            </a:r>
            <a:endParaRPr lang="de-CH" sz="32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23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F3D672FF-E368-520B-2A84-B7CB0F87AB7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341564"/>
          <a:ext cx="10426432" cy="4504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7189">
                  <a:extLst>
                    <a:ext uri="{9D8B030D-6E8A-4147-A177-3AD203B41FA5}">
                      <a16:colId xmlns:a16="http://schemas.microsoft.com/office/drawing/2014/main" val="2150601478"/>
                    </a:ext>
                  </a:extLst>
                </a:gridCol>
                <a:gridCol w="1201101">
                  <a:extLst>
                    <a:ext uri="{9D8B030D-6E8A-4147-A177-3AD203B41FA5}">
                      <a16:colId xmlns:a16="http://schemas.microsoft.com/office/drawing/2014/main" val="3769385210"/>
                    </a:ext>
                  </a:extLst>
                </a:gridCol>
                <a:gridCol w="1706795">
                  <a:extLst>
                    <a:ext uri="{9D8B030D-6E8A-4147-A177-3AD203B41FA5}">
                      <a16:colId xmlns:a16="http://schemas.microsoft.com/office/drawing/2014/main" val="587316878"/>
                    </a:ext>
                  </a:extLst>
                </a:gridCol>
                <a:gridCol w="2666752">
                  <a:extLst>
                    <a:ext uri="{9D8B030D-6E8A-4147-A177-3AD203B41FA5}">
                      <a16:colId xmlns:a16="http://schemas.microsoft.com/office/drawing/2014/main" val="1775339929"/>
                    </a:ext>
                  </a:extLst>
                </a:gridCol>
                <a:gridCol w="1996692">
                  <a:extLst>
                    <a:ext uri="{9D8B030D-6E8A-4147-A177-3AD203B41FA5}">
                      <a16:colId xmlns:a16="http://schemas.microsoft.com/office/drawing/2014/main" val="4164939537"/>
                    </a:ext>
                  </a:extLst>
                </a:gridCol>
                <a:gridCol w="1717903">
                  <a:extLst>
                    <a:ext uri="{9D8B030D-6E8A-4147-A177-3AD203B41FA5}">
                      <a16:colId xmlns:a16="http://schemas.microsoft.com/office/drawing/2014/main" val="4171868319"/>
                    </a:ext>
                  </a:extLst>
                </a:gridCol>
              </a:tblGrid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Beratungsthemen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84231"/>
                  </a:ext>
                </a:extLst>
              </a:tr>
              <a:tr h="69304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 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Bewerbung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Laufbahnplanung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Studienorganisatorische Kompetenzen 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Stressmanagement </a:t>
                      </a:r>
                    </a:p>
                    <a:p>
                      <a:r>
                        <a:rPr lang="de-CH" sz="1600">
                          <a:effectLst/>
                        </a:rPr>
                        <a:t> 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Psychische </a:t>
                      </a:r>
                    </a:p>
                    <a:p>
                      <a:r>
                        <a:rPr lang="de-CH" sz="1600">
                          <a:effectLst/>
                        </a:rPr>
                        <a:t>Belastungen 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4773905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BFH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149303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HSLU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7403941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ZHAW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1445458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ZHDK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1634684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 Ost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6604016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 GR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8439478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FHNW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270977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SUPSI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ja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078534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FFHS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nein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2421683"/>
                  </a:ext>
                </a:extLst>
              </a:tr>
              <a:tr h="346520"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Total 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6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7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5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3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de-CH" sz="1600">
                          <a:effectLst/>
                        </a:rPr>
                        <a:t>6</a:t>
                      </a:r>
                      <a:endParaRPr lang="de-CH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0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554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chemeClr val="bg1"/>
                </a:solidFill>
              </a:rPr>
              <a:t>Fazit Konkurrenzanalyse</a:t>
            </a:r>
            <a:endParaRPr lang="de-CH" sz="4800">
              <a:solidFill>
                <a:schemeClr val="bg1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6119" y="6181343"/>
            <a:ext cx="1040653" cy="64008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E003FB31-DA21-4CC7-8712-795A278191A0}" type="datetime1">
              <a:rPr lang="de-CH">
                <a:solidFill>
                  <a:schemeClr val="tx2"/>
                </a:solidFill>
              </a:rPr>
              <a:pPr algn="r">
                <a:spcAft>
                  <a:spcPts val="600"/>
                </a:spcAft>
              </a:pPr>
              <a:t>21.10.2024</a:t>
            </a:fld>
            <a:endParaRPr lang="de-CH">
              <a:solidFill>
                <a:schemeClr val="tx2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548872" y="6217920"/>
            <a:ext cx="640080" cy="64008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D704E467-C06D-4A7A-98D0-E1E00465E11C}" type="slidenum">
              <a:rPr lang="de-CH">
                <a:solidFill>
                  <a:schemeClr val="tx2"/>
                </a:solidFill>
              </a:rPr>
              <a:pPr algn="ctr">
                <a:spcAft>
                  <a:spcPts val="600"/>
                </a:spcAft>
              </a:pPr>
              <a:t>24</a:t>
            </a:fld>
            <a:endParaRPr lang="de-CH">
              <a:solidFill>
                <a:schemeClr val="tx2"/>
              </a:solidFill>
            </a:endParaRPr>
          </a:p>
        </p:txBody>
      </p:sp>
      <p:graphicFrame>
        <p:nvGraphicFramePr>
          <p:cNvPr id="30" name="Inhaltsplatzhalter 6">
            <a:extLst>
              <a:ext uri="{FF2B5EF4-FFF2-40B4-BE49-F238E27FC236}">
                <a16:creationId xmlns:a16="http://schemas.microsoft.com/office/drawing/2014/main" id="{8275C605-CCA5-40D2-3FDC-0A45739133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el 1">
            <a:extLst>
              <a:ext uri="{FF2B5EF4-FFF2-40B4-BE49-F238E27FC236}">
                <a16:creationId xmlns:a16="http://schemas.microsoft.com/office/drawing/2014/main" id="{439CECAF-94AD-3BA8-7B3B-076198A01329}"/>
              </a:ext>
            </a:extLst>
          </p:cNvPr>
          <p:cNvSpPr txBox="1">
            <a:spLocks/>
          </p:cNvSpPr>
          <p:nvPr/>
        </p:nvSpPr>
        <p:spPr>
          <a:xfrm>
            <a:off x="481585" y="676655"/>
            <a:ext cx="5129600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800">
                <a:solidFill>
                  <a:srgbClr val="5A246F"/>
                </a:solidFill>
              </a:rPr>
              <a:t>Fazit Konkurrenzanalyse</a:t>
            </a:r>
            <a:endParaRPr lang="de-CH" sz="4800" dirty="0">
              <a:solidFill>
                <a:srgbClr val="5A24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867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Umfrage </a:t>
            </a:r>
            <a:endParaRPr lang="de-CH" sz="32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25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7A2CBCCD-562E-DC1F-BBE4-86E195207F61}"/>
              </a:ext>
            </a:extLst>
          </p:cNvPr>
          <p:cNvGraphicFramePr/>
          <p:nvPr/>
        </p:nvGraphicFramePr>
        <p:xfrm>
          <a:off x="736599" y="2485345"/>
          <a:ext cx="9762177" cy="3224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B095601D-606F-E9AE-6C1F-30DE22B9ED39}"/>
              </a:ext>
            </a:extLst>
          </p:cNvPr>
          <p:cNvSpPr txBox="1"/>
          <p:nvPr/>
        </p:nvSpPr>
        <p:spPr>
          <a:xfrm>
            <a:off x="736600" y="1147982"/>
            <a:ext cx="10047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Es wurden 3000 Studierende befragt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552 Studierende haben die Umfrage ausgefüllt (Beendigungsquote von 60%) 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3811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Umfrage</a:t>
            </a:r>
            <a:endParaRPr lang="de-CH" sz="32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26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AAF9BD62-F1CD-525F-6C25-8E3494A6750A}"/>
              </a:ext>
            </a:extLst>
          </p:cNvPr>
          <p:cNvGraphicFramePr/>
          <p:nvPr/>
        </p:nvGraphicFramePr>
        <p:xfrm>
          <a:off x="645745" y="1459149"/>
          <a:ext cx="10902787" cy="4610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3418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Umfrage</a:t>
            </a:r>
            <a:endParaRPr lang="de-CH" sz="32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27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99EECFDD-0684-134E-F1AE-D81C74A67AB2}"/>
              </a:ext>
            </a:extLst>
          </p:cNvPr>
          <p:cNvGraphicFramePr/>
          <p:nvPr/>
        </p:nvGraphicFramePr>
        <p:xfrm>
          <a:off x="643467" y="1675227"/>
          <a:ext cx="10905066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88451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 dirty="0"/>
              <a:t>Umfrage</a:t>
            </a:r>
            <a:endParaRPr lang="de-CH" sz="32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28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F61FDF44-C98F-3E53-6847-67B73AF5BDAC}"/>
              </a:ext>
            </a:extLst>
          </p:cNvPr>
          <p:cNvGraphicFramePr/>
          <p:nvPr/>
        </p:nvGraphicFramePr>
        <p:xfrm>
          <a:off x="622170" y="1410511"/>
          <a:ext cx="10926363" cy="4658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50486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6600" y="331913"/>
            <a:ext cx="8496796" cy="1009651"/>
          </a:xfrm>
        </p:spPr>
        <p:txBody>
          <a:bodyPr>
            <a:normAutofit/>
          </a:bodyPr>
          <a:lstStyle/>
          <a:p>
            <a:r>
              <a:rPr lang="de-DE" sz="3200"/>
              <a:t>Umfrage</a:t>
            </a:r>
            <a:endParaRPr lang="de-CH" sz="32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2170" y="2366128"/>
            <a:ext cx="10924084" cy="37775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de-CH" sz="14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None/>
            </a:pPr>
            <a:r>
              <a:rPr lang="de-CH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3FB31-DA21-4CC7-8712-795A278191A0}" type="datetime1">
              <a:rPr lang="de-CH" smtClean="0"/>
              <a:t>21.10.2024</a:t>
            </a:fld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29</a:t>
            </a:fld>
            <a:endParaRPr lang="de-CH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A46D28D-52A3-B940-8E50-EBC8C5F9391B}"/>
              </a:ext>
            </a:extLst>
          </p:cNvPr>
          <p:cNvSpPr txBox="1">
            <a:spLocks/>
          </p:cNvSpPr>
          <p:nvPr/>
        </p:nvSpPr>
        <p:spPr>
          <a:xfrm>
            <a:off x="838200" y="3656817"/>
            <a:ext cx="10142415" cy="227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de-CH" sz="1700" b="1">
              <a:solidFill>
                <a:srgbClr val="7030A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de-CH" sz="1700"/>
          </a:p>
          <a:p>
            <a:pPr lvl="1"/>
            <a:endParaRPr lang="de-CH" sz="1700"/>
          </a:p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de-CH" sz="1800"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de-CH" sz="18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4E1979F0-8516-76D1-4C53-1E54A4626852}"/>
              </a:ext>
            </a:extLst>
          </p:cNvPr>
          <p:cNvGraphicFramePr/>
          <p:nvPr/>
        </p:nvGraphicFramePr>
        <p:xfrm>
          <a:off x="645745" y="1449421"/>
          <a:ext cx="10902787" cy="4620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43306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chemeClr val="bg1"/>
                </a:solidFill>
              </a:rPr>
              <a:t>Fazit Umfrage</a:t>
            </a:r>
            <a:endParaRPr lang="de-CH" sz="4800">
              <a:solidFill>
                <a:schemeClr val="bg1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6119" y="6181343"/>
            <a:ext cx="1040653" cy="64008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E003FB31-DA21-4CC7-8712-795A278191A0}" type="datetime1">
              <a:rPr lang="de-CH">
                <a:solidFill>
                  <a:schemeClr val="tx2"/>
                </a:solidFill>
              </a:rPr>
              <a:pPr algn="r">
                <a:spcAft>
                  <a:spcPts val="600"/>
                </a:spcAft>
              </a:pPr>
              <a:t>21.10.2024</a:t>
            </a:fld>
            <a:endParaRPr lang="de-CH">
              <a:solidFill>
                <a:schemeClr val="tx2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548872" y="6217920"/>
            <a:ext cx="640080" cy="64008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D704E467-C06D-4A7A-98D0-E1E00465E11C}" type="slidenum">
              <a:rPr lang="de-CH">
                <a:solidFill>
                  <a:schemeClr val="tx2"/>
                </a:solidFill>
              </a:rPr>
              <a:pPr algn="ctr">
                <a:spcAft>
                  <a:spcPts val="600"/>
                </a:spcAft>
              </a:pPr>
              <a:t>30</a:t>
            </a:fld>
            <a:endParaRPr lang="de-CH">
              <a:solidFill>
                <a:schemeClr val="tx2"/>
              </a:solidFill>
            </a:endParaRPr>
          </a:p>
        </p:txBody>
      </p:sp>
      <p:graphicFrame>
        <p:nvGraphicFramePr>
          <p:cNvPr id="30" name="Inhaltsplatzhalter 6">
            <a:extLst>
              <a:ext uri="{FF2B5EF4-FFF2-40B4-BE49-F238E27FC236}">
                <a16:creationId xmlns:a16="http://schemas.microsoft.com/office/drawing/2014/main" id="{8275C605-CCA5-40D2-3FDC-0A45739133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el 1">
            <a:extLst>
              <a:ext uri="{FF2B5EF4-FFF2-40B4-BE49-F238E27FC236}">
                <a16:creationId xmlns:a16="http://schemas.microsoft.com/office/drawing/2014/main" id="{27531725-2F90-3FC1-27CB-02000E290E4C}"/>
              </a:ext>
            </a:extLst>
          </p:cNvPr>
          <p:cNvSpPr txBox="1">
            <a:spLocks/>
          </p:cNvSpPr>
          <p:nvPr/>
        </p:nvSpPr>
        <p:spPr>
          <a:xfrm>
            <a:off x="690812" y="841247"/>
            <a:ext cx="5129600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800">
                <a:solidFill>
                  <a:srgbClr val="5A246F"/>
                </a:solidFill>
              </a:rPr>
              <a:t>Fazit Umfrage</a:t>
            </a:r>
            <a:endParaRPr lang="de-CH" sz="4800" dirty="0">
              <a:solidFill>
                <a:srgbClr val="5A24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59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de-DE" sz="3200">
                <a:solidFill>
                  <a:srgbClr val="FFFFFF"/>
                </a:solidFill>
              </a:rPr>
              <a:t>Fragen &amp; Diskussion</a:t>
            </a:r>
            <a:endParaRPr lang="de-CH" sz="3200">
              <a:solidFill>
                <a:srgbClr val="FFFFFF"/>
              </a:solidFill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F0EED84-F2DF-35D7-10BC-D3B61A7C9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974" y="3196652"/>
            <a:ext cx="3702579" cy="3524823"/>
          </a:xfrm>
        </p:spPr>
        <p:txBody>
          <a:bodyPr>
            <a:normAutofit/>
          </a:bodyPr>
          <a:lstStyle/>
          <a:p>
            <a:r>
              <a:rPr lang="de-DE" sz="2400">
                <a:solidFill>
                  <a:srgbClr val="FFFFFF"/>
                </a:solidFill>
              </a:rPr>
              <a:t>Gibt es Fragen?</a:t>
            </a:r>
          </a:p>
          <a:p>
            <a:pPr marL="0" indent="0">
              <a:buNone/>
            </a:pPr>
            <a:endParaRPr lang="de-DE" sz="2400">
              <a:solidFill>
                <a:srgbClr val="FFFFFF"/>
              </a:solidFill>
            </a:endParaRPr>
          </a:p>
          <a:p>
            <a:r>
              <a:rPr lang="de-DE" sz="2400">
                <a:solidFill>
                  <a:srgbClr val="FFFFFF"/>
                </a:solidFill>
              </a:rPr>
              <a:t>Was denkt ihr? Inputs?</a:t>
            </a:r>
          </a:p>
          <a:p>
            <a:endParaRPr lang="de-DE" sz="20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de-CH" sz="2000">
              <a:solidFill>
                <a:srgbClr val="FFFFFF"/>
              </a:solidFill>
            </a:endParaRPr>
          </a:p>
        </p:txBody>
      </p:sp>
      <p:pic>
        <p:nvPicPr>
          <p:cNvPr id="11" name="Grafik 10" descr="Ein Bild, das Cartoon, Clipart, Darstellung, Grafiken enthält.&#10;&#10;Automatisch generierte Beschreibung">
            <a:extLst>
              <a:ext uri="{FF2B5EF4-FFF2-40B4-BE49-F238E27FC236}">
                <a16:creationId xmlns:a16="http://schemas.microsoft.com/office/drawing/2014/main" id="{51568EDD-BC8B-FFBF-02C4-947365048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04" y="1646256"/>
            <a:ext cx="5407002" cy="3565486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03FB31-DA21-4CC7-8712-795A278191A0}" type="datetime1">
              <a:rPr lang="de-CH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21.10.2024</a:t>
            </a:fld>
            <a:endParaRPr lang="de-CH">
              <a:solidFill>
                <a:srgbClr val="FFFFFF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04E467-C06D-4A7A-98D0-E1E00465E11C}" type="slidenum">
              <a:rPr lang="de-CH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31</a:t>
            </a:fld>
            <a:endParaRPr lang="de-CH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2310740" y="3656817"/>
            <a:ext cx="8188037" cy="119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sz="170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D7914E8-1DF0-BC1B-9710-8F1C49A2F910}"/>
              </a:ext>
            </a:extLst>
          </p:cNvPr>
          <p:cNvSpPr txBox="1">
            <a:spLocks/>
          </p:cNvSpPr>
          <p:nvPr/>
        </p:nvSpPr>
        <p:spPr>
          <a:xfrm>
            <a:off x="884374" y="275841"/>
            <a:ext cx="3702580" cy="1616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685783">
              <a:lnSpc>
                <a:spcPct val="90000"/>
              </a:lnSpc>
              <a:spcBef>
                <a:spcPct val="0"/>
              </a:spcBef>
              <a:buNone/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/>
            <a:r>
              <a:rPr lang="de-DE" dirty="0"/>
              <a:t>Fragen &amp; Diskussion</a:t>
            </a:r>
            <a:endParaRPr lang="de-CH" dirty="0"/>
          </a:p>
        </p:txBody>
      </p:sp>
      <p:sp>
        <p:nvSpPr>
          <p:cNvPr id="5" name="Inhaltsplatzhalter 7">
            <a:extLst>
              <a:ext uri="{FF2B5EF4-FFF2-40B4-BE49-F238E27FC236}">
                <a16:creationId xmlns:a16="http://schemas.microsoft.com/office/drawing/2014/main" id="{416B6735-9F08-9BDF-AC6B-A44D62F0348B}"/>
              </a:ext>
            </a:extLst>
          </p:cNvPr>
          <p:cNvSpPr txBox="1">
            <a:spLocks/>
          </p:cNvSpPr>
          <p:nvPr/>
        </p:nvSpPr>
        <p:spPr>
          <a:xfrm>
            <a:off x="884374" y="3349052"/>
            <a:ext cx="3702579" cy="3524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rgbClr val="5A246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Gibt es Fragen?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srgbClr val="5A246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rgbClr val="5A246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denkt ihr? Inputs?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5A246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CH" sz="2000" b="0" i="0" u="none" strike="noStrike" kern="1200" cap="none" spc="0" normalizeH="0" baseline="0" noProof="0">
              <a:ln>
                <a:noFill/>
              </a:ln>
              <a:solidFill>
                <a:srgbClr val="5A246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970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55FBB3-80C8-45C7-9348-5C3C04A0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23" y="681037"/>
            <a:ext cx="11256579" cy="2921002"/>
          </a:xfrm>
        </p:spPr>
        <p:txBody>
          <a:bodyPr vert="horz" lIns="54000" tIns="45720" rIns="91440" bIns="45720" rtlCol="0" anchor="b">
            <a:normAutofit/>
          </a:bodyPr>
          <a:lstStyle/>
          <a:p>
            <a:r>
              <a:rPr lang="de-CH">
                <a:latin typeface="Calibri" panose="020F0502020204030204" pitchFamily="34" charset="0"/>
                <a:cs typeface="Calibri" panose="020F0502020204030204" pitchFamily="34" charset="0"/>
              </a:rPr>
              <a:t>Erfassung Schulveranstaltungen Sharepoint</a:t>
            </a:r>
            <a:endParaRPr lang="de-CH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F5A2B77-9280-532C-1E8A-0159A6F75962}"/>
              </a:ext>
            </a:extLst>
          </p:cNvPr>
          <p:cNvSpPr txBox="1"/>
          <p:nvPr/>
        </p:nvSpPr>
        <p:spPr>
          <a:xfrm>
            <a:off x="867902" y="4959458"/>
            <a:ext cx="2719954" cy="1456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BEF129-AE85-ECF0-CAD6-162F04A69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03" y="5082067"/>
            <a:ext cx="2524477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43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E5E51-F1FF-BDCF-B0AB-5D2BE47E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Korrekte Erfassung der FFHS-Produkte!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AFB3F9B7-BA4A-1042-0204-04FA86EE8E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7307" y="1825625"/>
            <a:ext cx="3996801" cy="2388332"/>
          </a:xfr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1B3A79-296F-FE0F-F32F-27CEE304B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7723" y="1825625"/>
            <a:ext cx="6726970" cy="4351338"/>
          </a:xfrm>
        </p:spPr>
        <p:txBody>
          <a:bodyPr>
            <a:normAutofit lnSpcReduction="10000"/>
          </a:bodyPr>
          <a:lstStyle/>
          <a:p>
            <a:r>
              <a:rPr lang="de-CH" dirty="0"/>
              <a:t>Bitte </a:t>
            </a:r>
            <a:r>
              <a:rPr lang="de-CH" b="1" i="1" dirty="0"/>
              <a:t>alle</a:t>
            </a:r>
            <a:r>
              <a:rPr lang="de-CH" dirty="0"/>
              <a:t> für die Schule bzw. Veranstaltung relevanten Produkte (SG, Forschung) angeben unter Berücksichtigung der Zielgruppe. </a:t>
            </a:r>
          </a:p>
          <a:p>
            <a:r>
              <a:rPr lang="de-CH" dirty="0"/>
              <a:t>Ziel: Übersicht für DL, an welchen Auftritten ihre Produkte positioniert waren.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>
                <a:solidFill>
                  <a:schemeClr val="bg1"/>
                </a:solidFill>
                <a:highlight>
                  <a:srgbClr val="B10B25"/>
                </a:highlight>
              </a:rPr>
              <a:t>Achtung</a:t>
            </a:r>
            <a:r>
              <a:rPr lang="de-CH" dirty="0"/>
              <a:t>: </a:t>
            </a:r>
          </a:p>
          <a:p>
            <a:r>
              <a:rPr lang="de-CH" dirty="0"/>
              <a:t>keine Prüfung zentral, keine automatisierten Messages!</a:t>
            </a:r>
          </a:p>
          <a:p>
            <a:r>
              <a:rPr lang="de-CH" dirty="0"/>
              <a:t>Bei konkreten Materialanforderungen: </a:t>
            </a:r>
            <a:r>
              <a:rPr lang="de-CH" b="1" dirty="0">
                <a:solidFill>
                  <a:srgbClr val="5A246F"/>
                </a:solidFill>
              </a:rPr>
              <a:t>Mail an Claudia</a:t>
            </a:r>
          </a:p>
          <a:p>
            <a:pPr lvl="1"/>
            <a:r>
              <a:rPr lang="de-CH" dirty="0"/>
              <a:t>Tischtuch?</a:t>
            </a:r>
          </a:p>
          <a:p>
            <a:pPr lvl="1"/>
            <a:r>
              <a:rPr lang="de-CH" dirty="0"/>
              <a:t>Spezifische Banner?</a:t>
            </a:r>
          </a:p>
          <a:p>
            <a:pPr lvl="1"/>
            <a:r>
              <a:rPr lang="de-CH" dirty="0"/>
              <a:t>Etc.</a:t>
            </a:r>
          </a:p>
          <a:p>
            <a:r>
              <a:rPr lang="de-CH" dirty="0"/>
              <a:t>Falls Unterstützung bei Mitarbeitereinsatz aus Lehre benötigt wird: </a:t>
            </a:r>
            <a:r>
              <a:rPr lang="de-CH" b="1" dirty="0">
                <a:solidFill>
                  <a:srgbClr val="5A246F"/>
                </a:solidFill>
              </a:rPr>
              <a:t>Mail an Ursula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8BC28-7ABF-2C5D-7957-C49384B6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8C6B8D-1274-61B0-E16E-9EA8517F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33</a:t>
            </a:fld>
            <a:endParaRPr lang="de-CH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FB2175E-6533-2415-011C-B084C56E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54961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55FBB3-80C8-45C7-9348-5C3C04A0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23" y="681037"/>
            <a:ext cx="11256579" cy="2921002"/>
          </a:xfrm>
        </p:spPr>
        <p:txBody>
          <a:bodyPr vert="horz" lIns="54000" tIns="45720" rIns="91440" bIns="45720" rtlCol="0" anchor="b">
            <a:normAutofit/>
          </a:bodyPr>
          <a:lstStyle/>
          <a:p>
            <a:r>
              <a:rPr lang="de-CH" b="1" dirty="0">
                <a:latin typeface="Calibri" panose="020F0502020204030204" pitchFamily="34" charset="0"/>
                <a:cs typeface="Calibri" panose="020F0502020204030204" pitchFamily="34" charset="0"/>
              </a:rPr>
              <a:t>Dein Update:</a:t>
            </a:r>
            <a:b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de-CH" dirty="0">
                <a:latin typeface="Calibri" panose="020F0502020204030204" pitchFamily="34" charset="0"/>
                <a:cs typeface="Calibri" panose="020F0502020204030204" pitchFamily="34" charset="0"/>
              </a:rPr>
              <a:t>Dein Fokus für die nächsten Wochen: Pain Points, Erfolge und Fragen</a:t>
            </a:r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6479EEC1-0C08-CBEC-9FDF-C535C2F4D5EB}"/>
              </a:ext>
            </a:extLst>
          </p:cNvPr>
          <p:cNvSpPr txBox="1">
            <a:spLocks/>
          </p:cNvSpPr>
          <p:nvPr/>
        </p:nvSpPr>
        <p:spPr>
          <a:xfrm>
            <a:off x="935421" y="3088440"/>
            <a:ext cx="11256579" cy="2921002"/>
          </a:xfrm>
          <a:prstGeom prst="rect">
            <a:avLst/>
          </a:prstGeom>
        </p:spPr>
        <p:txBody>
          <a:bodyPr vert="horz" lIns="54000" tIns="45720" rIns="91440" bIns="45720" rtlCol="0" anchor="b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Minuten/Person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590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FFHS Vorlagen">
  <a:themeElements>
    <a:clrScheme name="FFHS_colors">
      <a:dk1>
        <a:srgbClr val="000000"/>
      </a:dk1>
      <a:lt1>
        <a:srgbClr val="FFFFFF"/>
      </a:lt1>
      <a:dk2>
        <a:srgbClr val="686868"/>
      </a:dk2>
      <a:lt2>
        <a:srgbClr val="B3B2B2"/>
      </a:lt2>
      <a:accent1>
        <a:srgbClr val="D50006"/>
      </a:accent1>
      <a:accent2>
        <a:srgbClr val="AE1F3E"/>
      </a:accent2>
      <a:accent3>
        <a:srgbClr val="7D0A52"/>
      </a:accent3>
      <a:accent4>
        <a:srgbClr val="502479"/>
      </a:accent4>
      <a:accent5>
        <a:srgbClr val="686868"/>
      </a:accent5>
      <a:accent6>
        <a:srgbClr val="B3B2B2"/>
      </a:accent6>
      <a:hlink>
        <a:srgbClr val="502479"/>
      </a:hlink>
      <a:folHlink>
        <a:srgbClr val="7D0A5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-praesentation-4-3 c" id="{61D7D134-DB9C-FC4A-8182-6131F3BFA554}" vid="{FC32ECEC-DEC7-CA49-A23F-DF32DE30EC1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fhsITSOdef xmlns="a5baa8e7-e27b-4130-a701-593d6af87fc9" xsi:nil="true"/>
    <FFHSMFArt xmlns="a5baa8e7-e27b-4130-a701-593d6af87fc9" xsi:nil="true"/>
    <FFHSMF xmlns="a5baa8e7-e27b-4130-a701-593d6af87fc9" xsi:nil="true"/>
    <FFHSQMChapter xmlns="a5baa8e7-e27b-4130-a701-593d6af87fc9" xsi:nil="true"/>
    <ffhsQMstatus xmlns="a5baa8e7-e27b-4130-a701-593d6af87fc9">Draft</ffhsQMstatus>
    <FFHSLink xmlns="a5baa8e7-e27b-4130-a701-593d6af87fc9">
      <Url xsi:nil="true"/>
      <Description xsi:nil="true"/>
    </FFHSLink>
    <FFHSMFAuflösung xmlns="a5baa8e7-e27b-4130-a701-593d6af87fc9" xsi:nil="true"/>
    <FFHSMFDrehort xmlns="a5baa8e7-e27b-4130-a701-593d6af87fc9" xsi:nil="true"/>
    <FFHSMFGenre xmlns="a5baa8e7-e27b-4130-a701-593d6af87fc9" xsi:nil="true"/>
    <FFHSMFAnwendungsbereich xmlns="a5baa8e7-e27b-4130-a701-593d6af87fc9" xsi:nil="true"/>
    <FFHSDataEnv xmlns="a5baa8e7-e27b-4130-a701-593d6af87fc9" xsi:nil="true"/>
    <FFHSQMLabel xmlns="a5baa8e7-e27b-4130-a701-593d6af87fc9" xsi:nil="true"/>
    <SUPSIQMasoff xmlns="a5baa8e7-e27b-4130-a701-593d6af87fc9" xsi:nil="true"/>
    <ffhsQMprocnumb xmlns="a5baa8e7-e27b-4130-a701-593d6af87fc9">XX</ffhsQMprocnumb>
    <FFHSQMasoff xmlns="a5baa8e7-e27b-4130-a701-593d6af87fc9">08.07.2020</FFHSQMasoff>
    <FFHSFAQCategory xmlns="a5baa8e7-e27b-4130-a701-593d6af87fc9" xsi:nil="true"/>
    <ffhsITSN xmlns="a5baa8e7-e27b-4130-a701-593d6af87fc9" xsi:nil="true"/>
    <ffhsITSD xmlns="a5baa8e7-e27b-4130-a701-593d6af87fc9" xsi:nil="true"/>
    <FFHSOwner xmlns="a5baa8e7-e27b-4130-a701-593d6af87fc9">
      <UserInfo>
        <DisplayName/>
        <AccountId xsi:nil="true"/>
        <AccountType/>
      </UserInfo>
    </FFHSOwner>
    <FFHSApprover xmlns="a5baa8e7-e27b-4130-a701-593d6af87fc9">
      <UserInfo>
        <DisplayName/>
        <AccountId xsi:nil="true"/>
        <AccountType/>
      </UserInfo>
    </FFHSApprover>
    <FFHSMFVerhältnis xmlns="a5baa8e7-e27b-4130-a701-593d6af87fc9" xsi:nil="true"/>
    <FFHSDataExp xmlns="a5baa8e7-e27b-4130-a701-593d6af87fc9" xsi:nil="true"/>
    <ffhsITSO xmlns="a5baa8e7-e27b-4130-a701-593d6af87fc9">
      <UserInfo>
        <DisplayName/>
        <AccountId xsi:nil="true"/>
        <AccountType/>
      </UserInfo>
    </ffhsITSO>
    <FFHSMFFeatures xmlns="a5baa8e7-e27b-4130-a701-593d6af87fc9" xsi:nil="true"/>
    <ffhsITCMDueDate xmlns="a5baa8e7-e27b-4130-a701-593d6af87fc9" xsi:nil="true"/>
    <FFHSEditor xmlns="a5baa8e7-e27b-4130-a701-593d6af87fc9">
      <UserInfo>
        <DisplayName/>
        <AccountId xsi:nil="true"/>
        <AccountType/>
      </UserInfo>
    </FFHSEditor>
  </documentManagement>
</p:properties>
</file>

<file path=customXml/item3.xml><?xml version="1.0" encoding="utf-8"?>
<?mso-contentType ?>
<SharedContentType xmlns="Microsoft.SharePoint.Taxonomy.ContentTypeSync" SourceId="7145e5ed-54b6-480a-98cd-f3ec15197160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2077D66BF60645B0CBEC0F5D6CF431" ma:contentTypeVersion="6" ma:contentTypeDescription="Ein neues Dokument erstellen." ma:contentTypeScope="" ma:versionID="ad1dffafa0ffaa69877d2bcd43c3a8e8">
  <xsd:schema xmlns:xsd="http://www.w3.org/2001/XMLSchema" xmlns:xs="http://www.w3.org/2001/XMLSchema" xmlns:p="http://schemas.microsoft.com/office/2006/metadata/properties" xmlns:ns2="a5baa8e7-e27b-4130-a701-593d6af87fc9" xmlns:ns3="e6b25e33-f7e3-447a-97cd-db8de1c4cf71" targetNamespace="http://schemas.microsoft.com/office/2006/metadata/properties" ma:root="true" ma:fieldsID="5a213d2657e47e53655e8a79b1b25e1d" ns2:_="" ns3:_="">
    <xsd:import namespace="a5baa8e7-e27b-4130-a701-593d6af87fc9"/>
    <xsd:import namespace="e6b25e33-f7e3-447a-97cd-db8de1c4cf71"/>
    <xsd:element name="properties">
      <xsd:complexType>
        <xsd:sequence>
          <xsd:element name="documentManagement">
            <xsd:complexType>
              <xsd:all>
                <xsd:element ref="ns2:ffhsQMprocnumb" minOccurs="0"/>
                <xsd:element ref="ns2:FFHSOwner" minOccurs="0"/>
                <xsd:element ref="ns2:FFHSQMasoff" minOccurs="0"/>
                <xsd:element ref="ns2:SUPSIQMasoff" minOccurs="0"/>
                <xsd:element ref="ns2:ffhsQMstatus" minOccurs="0"/>
                <xsd:element ref="ns2:ffhsITCMDueDate" minOccurs="0"/>
                <xsd:element ref="ns2:ffhsITSN" minOccurs="0"/>
                <xsd:element ref="ns2:ffhsITSD" minOccurs="0"/>
                <xsd:element ref="ns2:ffhsITSO" minOccurs="0"/>
                <xsd:element ref="ns2:ffhsITSOdef" minOccurs="0"/>
                <xsd:element ref="ns2:FFHSEditor" minOccurs="0"/>
                <xsd:element ref="ns2:FFHSApprover" minOccurs="0"/>
                <xsd:element ref="ns2:FFHSDataEnv" minOccurs="0"/>
                <xsd:element ref="ns2:FFHSDataExp" minOccurs="0"/>
                <xsd:element ref="ns2:FFHSLink" minOccurs="0"/>
                <xsd:element ref="ns2:FFHSMFGenre" minOccurs="0"/>
                <xsd:element ref="ns2:FFHSMFArt" minOccurs="0"/>
                <xsd:element ref="ns2:FFHSMFAnwendungsbereich" minOccurs="0"/>
                <xsd:element ref="ns2:FFHSMFAuflösung" minOccurs="0"/>
                <xsd:element ref="ns2:FFHSMFVerhältnis" minOccurs="0"/>
                <xsd:element ref="ns2:FFHSMF" minOccurs="0"/>
                <xsd:element ref="ns2:FFHSMFFeatures" minOccurs="0"/>
                <xsd:element ref="ns2:FFHSMFDrehort" minOccurs="0"/>
                <xsd:element ref="ns2:FFHSQMChapter" minOccurs="0"/>
                <xsd:element ref="ns2:FFHSQMLabel" minOccurs="0"/>
                <xsd:element ref="ns2:FFHSFAQCategor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aa8e7-e27b-4130-a701-593d6af87fc9" elementFormDefault="qualified">
    <xsd:import namespace="http://schemas.microsoft.com/office/2006/documentManagement/types"/>
    <xsd:import namespace="http://schemas.microsoft.com/office/infopath/2007/PartnerControls"/>
    <xsd:element name="ffhsQMprocnumb" ma:index="8" nillable="true" ma:displayName="ffhsQMprocnumb" ma:default="XX" ma:format="Dropdown" ma:internalName="ffhsQMprocnumb">
      <xsd:simpleType>
        <xsd:restriction base="dms:Choice">
          <xsd:enumeration value="P1"/>
          <xsd:enumeration value="P2"/>
          <xsd:enumeration value="P3"/>
          <xsd:enumeration value="P4"/>
          <xsd:enumeration value="P5"/>
          <xsd:enumeration value="P6"/>
          <xsd:enumeration value="P7"/>
          <xsd:enumeration value="P8"/>
          <xsd:enumeration value="P9"/>
          <xsd:enumeration value="P10"/>
          <xsd:enumeration value="P11"/>
          <xsd:enumeration value="P12"/>
          <xsd:enumeration value="P13"/>
          <xsd:enumeration value="P14"/>
          <xsd:enumeration value="P15"/>
          <xsd:enumeration value="P16"/>
          <xsd:enumeration value="P17"/>
          <xsd:enumeration value="P18"/>
          <xsd:enumeration value="P19"/>
          <xsd:enumeration value="P20"/>
          <xsd:enumeration value="P21"/>
          <xsd:enumeration value="P22"/>
          <xsd:enumeration value="XX"/>
        </xsd:restriction>
      </xsd:simpleType>
    </xsd:element>
    <xsd:element name="FFHSOwner" ma:index="9" nillable="true" ma:displayName="FFHSOwner" ma:list="UserInfo" ma:SharePointGroup="0" ma:internalName="FFHS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FHSQMasoff" ma:index="10" nillable="true" ma:displayName="FFHSQMasoff" ma:default="08.07.2020" ma:format="Dropdown" ma:internalName="FFHSQMasoff">
      <xsd:simpleType>
        <xsd:restriction base="dms:Choice">
          <xsd:enumeration value="08.07.2020"/>
          <xsd:enumeration value="01.04.2022"/>
        </xsd:restriction>
      </xsd:simpleType>
    </xsd:element>
    <xsd:element name="SUPSIQMasoff" ma:index="11" nillable="true" ma:displayName="SUPSIQMasoff" ma:format="Dropdown" ma:internalName="SUPSIQMasoff">
      <xsd:simpleType>
        <xsd:union memberTypes="dms:Text">
          <xsd:simpleType>
            <xsd:restriction base="dms:Choice">
              <xsd:enumeration value="02.07.2020"/>
              <xsd:enumeration value="18.06.2021"/>
            </xsd:restriction>
          </xsd:simpleType>
        </xsd:union>
      </xsd:simpleType>
    </xsd:element>
    <xsd:element name="ffhsQMstatus" ma:index="12" nillable="true" ma:displayName="ffhsQMstatus" ma:default="Draft" ma:format="Dropdown" ma:internalName="ffhsQMstatus">
      <xsd:simpleType>
        <xsd:restriction base="dms:Choice">
          <xsd:enumeration value="Draft"/>
          <xsd:enumeration value="Review"/>
          <xsd:enumeration value="Bewilligt"/>
        </xsd:restriction>
      </xsd:simpleType>
    </xsd:element>
    <xsd:element name="ffhsITCMDueDate" ma:index="13" nillable="true" ma:displayName="ffhsITCMDueDate" ma:format="DateTime" ma:internalName="ffhsITCMDueDate">
      <xsd:simpleType>
        <xsd:restriction base="dms:DateTime"/>
      </xsd:simpleType>
    </xsd:element>
    <xsd:element name="ffhsITSN" ma:index="14" nillable="true" ma:displayName="ffhsITSN" ma:format="Dropdown" ma:internalName="ffhsITSN">
      <xsd:simpleType>
        <xsd:union memberTypes="dms:Text">
          <xsd:simpleType>
            <xsd:restriction base="dms:Choice">
              <xsd:enumeration value="3D Cleverreach"/>
              <xsd:enumeration value="abaClient"/>
              <xsd:enumeration value="Abacus"/>
              <xsd:enumeration value="Activity Monitor"/>
              <xsd:enumeration value="Adobe Creative Cloud for Teams"/>
              <xsd:enumeration value="Adobe Design Standard"/>
              <xsd:enumeration value="AMBOSS"/>
              <xsd:enumeration value="Appear In"/>
              <xsd:enumeration value="Basecamp"/>
              <xsd:enumeration value="Bibliomaker"/>
              <xsd:enumeration value="Bitdefender"/>
              <xsd:enumeration value="Brix Sans (Corporate identity font)"/>
              <xsd:enumeration value="Buffer"/>
              <xsd:enumeration value="CA Arcserve Backup"/>
              <xsd:enumeration value="CAS Campus Wartungskosten"/>
              <xsd:enumeration value="Cleverbridge Institut Unipark"/>
              <xsd:enumeration value="Complete Anatomy"/>
              <xsd:enumeration value="EventFrog"/>
              <xsd:enumeration value="Evento"/>
              <xsd:enumeration value="EventOnline"/>
              <xsd:enumeration value="Font Awesome Pro"/>
              <xsd:enumeration value="Fortinet"/>
              <xsd:enumeration value="Foxit PDF"/>
              <xsd:enumeration value="Kaltura MediaSpace/Moodle"/>
              <xsd:enumeration value="LangugageTool"/>
              <xsd:enumeration value="Laracasts"/>
              <xsd:enumeration value="LinkedIn Learning"/>
              <xsd:enumeration value="Lucidchart"/>
              <xsd:enumeration value="Lynda"/>
              <xsd:enumeration value="Lynda"/>
              <xsd:enumeration value="MachForm"/>
              <xsd:enumeration value="Meisterlabs"/>
              <xsd:enumeration value="Moodle Users Association"/>
              <xsd:enumeration value="MS SQL Server Enterprise Core 4 Lic"/>
              <xsd:enumeration value="MS SQL Server Standard Core 2 Lic"/>
              <xsd:enumeration value="MS SQL Server Standard Core 2 Lic"/>
              <xsd:enumeration value="MultiWeb"/>
              <xsd:enumeration value="MultiWeb FFHS Campus Brig"/>
              <xsd:enumeration value="MultiWeb FFHS Campus Regensdorf"/>
              <xsd:enumeration value="MultiWeb FFHS Campus Zürich"/>
              <xsd:enumeration value="Nagios"/>
              <xsd:enumeration value="NewRow"/>
              <xsd:enumeration value="Nvivo Campus License"/>
              <xsd:enumeration value="O365 A1 for Faculty and Students"/>
              <xsd:enumeration value="O365 - PowerAutomate"/>
              <xsd:enumeration value="O365 - PowerVirtualAgent"/>
              <xsd:enumeration value="O365 - Project"/>
              <xsd:enumeration value="Payrexx"/>
              <xsd:enumeration value="PhpStorm"/>
              <xsd:enumeration value="Pingdom"/>
              <xsd:enumeration value="Prodi"/>
              <xsd:enumeration value="Remote Desktop Licensing"/>
              <xsd:enumeration value="ROOMS SaaS"/>
              <xsd:enumeration value="Royal TS"/>
              <xsd:enumeration value="Sage"/>
              <xsd:enumeration value="SALDO-Cleverreach-Anbindung"/>
              <xsd:enumeration value="Salto Pro Access"/>
              <xsd:enumeration value="Screencast-o-matic"/>
              <xsd:enumeration value="SEO Spider"/>
              <xsd:enumeration value="Smartdeploy Enterprise"/>
              <xsd:enumeration value="SMSGlobal"/>
              <xsd:enumeration value="Software Campus Anteil Microsoft VLSC SUPSI"/>
              <xsd:enumeration value="Splunk&gt;"/>
              <xsd:enumeration value="SPSS AMOS"/>
              <xsd:enumeration value="SPSS Statistics"/>
              <xsd:enumeration value="Statistica"/>
              <xsd:enumeration value="SWITCHengines"/>
              <xsd:enumeration value="Tableau CLC"/>
              <xsd:enumeration value="Teamviewer"/>
              <xsd:enumeration value="TechSmith Camtasia"/>
              <xsd:enumeration value="TechSmith SnagIT"/>
              <xsd:enumeration value="Terminland"/>
              <xsd:enumeration value="UniPark"/>
              <xsd:enumeration value="untis"/>
              <xsd:enumeration value="Veeam"/>
              <xsd:enumeration value="Visual Studio Pro"/>
              <xsd:enumeration value="VMWare vSphere"/>
              <xsd:enumeration value="Yourbureau"/>
            </xsd:restriction>
          </xsd:simpleType>
        </xsd:union>
      </xsd:simpleType>
    </xsd:element>
    <xsd:element name="ffhsITSD" ma:index="15" nillable="true" ma:displayName="ffhsITSD" ma:description="FFHS IT Service Description" ma:internalName="ffhsITSD">
      <xsd:simpleType>
        <xsd:restriction base="dms:Text">
          <xsd:maxLength value="255"/>
        </xsd:restriction>
      </xsd:simpleType>
    </xsd:element>
    <xsd:element name="ffhsITSO" ma:index="16" nillable="true" ma:displayName="ffhsITSO" ma:list="UserInfo" ma:SharePointGroup="0" ma:internalName="ffhsITSO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fhsITSOdef" ma:index="17" nillable="true" ma:displayName="ffhsITSOdef" ma:format="Dropdown" ma:internalName="ffhsITSOdef">
      <xsd:simpleType>
        <xsd:restriction base="dms:Choice">
          <xsd:enumeration value="Christian Lochmatter"/>
          <xsd:enumeration value="Oliver Kamin"/>
          <xsd:enumeration value="Markus Dormann"/>
        </xsd:restriction>
      </xsd:simpleType>
    </xsd:element>
    <xsd:element name="FFHSEditor" ma:index="18" nillable="true" ma:displayName="FFHSEditor" ma:list="UserInfo" ma:internalName="FFHSEdito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FHSApprover" ma:index="19" nillable="true" ma:displayName="FFHSApprover" ma:list="UserInfo" ma:internalName="FFHSApprov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FHSDataEnv" ma:index="20" nillable="true" ma:displayName="FFHSDataEnv" ma:default="" ma:format="Dropdown" ma:internalName="FFHSDataEnv">
      <xsd:simpleType>
        <xsd:union memberTypes="dms:Text">
          <xsd:simpleType>
            <xsd:restriction base="dms:Choice">
              <xsd:enumeration value="CAS"/>
              <xsd:enumeration value="Moodle Prod"/>
              <xsd:enumeration value="BZM"/>
              <xsd:enumeration value="External Data"/>
            </xsd:restriction>
          </xsd:simpleType>
        </xsd:union>
      </xsd:simpleType>
    </xsd:element>
    <xsd:element name="FFHSDataExp" ma:index="21" nillable="true" ma:displayName="FFHSDataExp" ma:default="" ma:format="Dropdown" ma:internalName="FFHSDataExp">
      <xsd:simpleType>
        <xsd:restriction base="dms:Choice">
          <xsd:enumeration value="FFHS VPN Zone"/>
          <xsd:enumeration value="FFHS cloud staff"/>
          <xsd:enumeration value="FFHS cloud staff and lecturer"/>
          <xsd:enumeration value="FFHS cloud all"/>
          <xsd:enumeration value="FFHS external restricted"/>
          <xsd:enumeration value="Public (unrestricted)"/>
          <xsd:enumeration value="Public (restricted)"/>
        </xsd:restriction>
      </xsd:simpleType>
    </xsd:element>
    <xsd:element name="FFHSLink" ma:index="22" nillable="true" ma:displayName="FFHSLink" ma:format="Hyperlink" ma:internalName="FFHS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FFHSMFGenre" ma:index="23" nillable="true" ma:displayName="FFHSMFGenre" ma:default="" ma:internalName="FFHSMFGenre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EduMedia intern"/>
                        <xsd:enumeration value="EduMedia extern"/>
                        <xsd:enumeration value="MarCom"/>
                        <xsd:enumeration value="Infrastruktur &amp; Positionierung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MFArt" ma:index="24" nillable="true" ma:displayName="FFHSMFArt" ma:default="" ma:internalName="FFHSMFArt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nimation"/>
                        <xsd:enumeration value="Video"/>
                        <xsd:enumeration value="Audio"/>
                        <xsd:enumeration value="Mixed"/>
                        <xsd:enumeration value="Skript"/>
                        <xsd:enumeration value="Remake"/>
                        <xsd:enumeration value="Edit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MFAnwendungsbereich" ma:index="25" nillable="true" ma:displayName="FFHSMFAnwendungsbereich" ma:default="" ma:internalName="FFHSMFAnwendungsbereich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Webseite"/>
                        <xsd:enumeration value="Lernplattform"/>
                        <xsd:enumeration value="Social Media"/>
                        <xsd:enumeration value="TV"/>
                        <xsd:enumeration value="FFHS intern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MFAuflösung" ma:index="26" nillable="true" ma:displayName="FFHSMFAuflösung" ma:default="" ma:format="Dropdown" ma:internalName="FFHSMFAufl_x00f6_sung">
      <xsd:simpleType>
        <xsd:union memberTypes="dms:Text">
          <xsd:simpleType>
            <xsd:restriction base="dms:Choice">
              <xsd:enumeration value="Full HD (1920x1080)"/>
              <xsd:enumeration value="UHD (3840x2160)"/>
              <xsd:enumeration value="4k (4096x2160)"/>
            </xsd:restriction>
          </xsd:simpleType>
        </xsd:union>
      </xsd:simpleType>
    </xsd:element>
    <xsd:element name="FFHSMFVerhältnis" ma:index="27" nillable="true" ma:displayName="FFHSMFVerhältnis" ma:default="" ma:format="Dropdown" ma:internalName="FFHSMFVerh_x00e4_ltnis">
      <xsd:simpleType>
        <xsd:union memberTypes="dms:Text">
          <xsd:simpleType>
            <xsd:restriction base="dms:Choice">
              <xsd:enumeration value="16:9"/>
              <xsd:enumeration value="9:16 Hoch"/>
              <xsd:enumeration value="1:1 Quadratisch"/>
              <xsd:enumeration value="4:3"/>
            </xsd:restriction>
          </xsd:simpleType>
        </xsd:union>
      </xsd:simpleType>
    </xsd:element>
    <xsd:element name="FFHSMF" ma:index="28" nillable="true" ma:displayName="FFHSMFLänge" ma:format="Dropdown" ma:internalName="FFHSMF">
      <xsd:simpleType>
        <xsd:union memberTypes="dms:Text">
          <xsd:simpleType>
            <xsd:restriction base="dms:Choice">
              <xsd:enumeration value="&lt;30 Sek"/>
              <xsd:enumeration value="30-60 Sek"/>
              <xsd:enumeration value="60-90 Sek"/>
              <xsd:enumeration value="90-120 Sek"/>
              <xsd:enumeration value="&gt; 2 Min"/>
            </xsd:restriction>
          </xsd:simpleType>
        </xsd:union>
      </xsd:simpleType>
    </xsd:element>
    <xsd:element name="FFHSMFFeatures" ma:index="29" nillable="true" ma:displayName="FFHSMFFeatures" ma:default="" ma:internalName="FFHSMFFeature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Musik"/>
                        <xsd:enumeration value="Geräusche"/>
                        <xsd:enumeration value="Interview"/>
                        <xsd:enumeration value="Sprecher"/>
                        <xsd:enumeration value="Untertitel"/>
                        <xsd:enumeration value="Grafiken"/>
                        <xsd:enumeration value="Animationen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MFDrehort" ma:index="30" nillable="true" ma:displayName="FFHSMFDrehort" ma:default="" ma:internalName="FFHSMFDrehort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indoor"/>
                        <xsd:enumeration value="outdoor"/>
                        <xsd:enumeration value="Studio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QMChapter" ma:index="31" nillable="true" ma:displayName="FFHSQMChapter" ma:default="" ma:internalName="FFHSQMChapter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Grundlegende Dokumente"/>
                        <xsd:enumeration value="Lehre und Weiterbildung"/>
                        <xsd:enumeration value="Forschung"/>
                        <xsd:enumeration value="Führung und Organisation"/>
                        <xsd:enumeration value="Verwaltung"/>
                        <xsd:enumeration value="PR/MarKom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QMLabel" ma:index="32" nillable="true" ma:displayName="FFHSQMLabel" ma:default="" ma:internalName="FFHSQMLabel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dmin"/>
                        <xsd:enumeration value="Alumni"/>
                        <xsd:enumeration value="BSc BOEK"/>
                        <xsd:enumeration value="BSc ED"/>
                        <xsd:enumeration value="BSc INF"/>
                        <xsd:enumeration value="BSc WI"/>
                        <xsd:enumeration value="EMBA"/>
                        <xsd:enumeration value="HR"/>
                        <xsd:enumeration value="Immobilien"/>
                        <xsd:enumeration value="IT"/>
                        <xsd:enumeration value="MAS Arbeit4.0"/>
                        <xsd:enumeration value="MAS BLAW"/>
                        <xsd:enumeration value="MAS IND4.0"/>
                        <xsd:enumeration value="MAS WiPsy"/>
                        <xsd:enumeration value="Mobilität"/>
                        <xsd:enumeration value="QM"/>
                        <xsd:enumeration value="Studienberatung"/>
                        <xsd:enumeration value="Stiftungsrat"/>
                        <xsd:enumeration value="Direktion"/>
                        <xsd:enumeration value="Forschung"/>
                        <xsd:enumeration value="Nachhaltigkeit"/>
                        <xsd:enumeration value="Ethik"/>
                        <xsd:enumeration value="Marketing"/>
                        <xsd:enumeration value="Indikatoren"/>
                        <xsd:enumeration value="Prozesse"/>
                        <xsd:enumeration value="Studierendenadministration"/>
                        <xsd:enumeration value="Rechtsdienst"/>
                        <xsd:enumeration value="MAS G"/>
                        <xsd:enumeration value="Msc BA"/>
                        <xsd:enumeration value="Finanzen"/>
                        <xsd:enumeration value="DWT"/>
                        <xsd:enumeration value="DBau"/>
                        <xsd:enumeration value="DINF"/>
                        <xsd:enumeration value="DGH"/>
                        <xsd:enumeration value="DE-D"/>
                        <xsd:enumeration value="Vorlagen"/>
                        <xsd:enumeration value="SUPSI"/>
                        <xsd:enumeration value="Learning Center"/>
                        <xsd:enumeration value="Kommunikation"/>
                        <xsd:enumeration value="MAS Data Science"/>
                        <xsd:enumeration value="PiBS Inf"/>
                        <xsd:enumeration value="BSc EG"/>
                        <xsd:enumeration value="MAS BIC"/>
                        <xsd:enumeration value="MAS GHF"/>
                        <xsd:enumeration value="MAS W4B"/>
                        <xsd:enumeration value="Institutionelle Akkreditierung"/>
                        <xsd:enumeration value="Löschen?"/>
                        <xsd:enumeration value="E-Learning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FHSFAQCategory" ma:index="33" nillable="true" ma:displayName="FFHSFAQCategory" ma:default="" ma:internalName="FFHSFAQCategory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Suche"/>
                        <xsd:enumeration value="Liste"/>
                        <xsd:enumeration value="Bibliothek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25e33-f7e3-447a-97cd-db8de1c4cf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3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14F7C7-F049-4393-B9F9-67E6C86B1B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1D9996-D5EE-4BF5-AC1A-788E3964FB04}">
  <ds:schemaRefs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7a9f2cd2-5d24-4f2b-91d4-0c393d391bab"/>
    <ds:schemaRef ds:uri="c3a65647-9327-4fff-b3fd-02f86f78a62b"/>
    <ds:schemaRef ds:uri="http://schemas.microsoft.com/office/2006/metadata/properties"/>
    <ds:schemaRef ds:uri="a5baa8e7-e27b-4130-a701-593d6af87fc9"/>
  </ds:schemaRefs>
</ds:datastoreItem>
</file>

<file path=customXml/itemProps3.xml><?xml version="1.0" encoding="utf-8"?>
<ds:datastoreItem xmlns:ds="http://schemas.openxmlformats.org/officeDocument/2006/customXml" ds:itemID="{CF59A6F1-CFD5-44BF-9CBA-1605CB288690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40ABD7A2-497F-46CF-AD83-75FB36B5DE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baa8e7-e27b-4130-a701-593d6af87fc9"/>
    <ds:schemaRef ds:uri="e6b25e33-f7e3-447a-97cd-db8de1c4cf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vorlage-praesentation-4-3</Template>
  <TotalTime>0</TotalTime>
  <Words>1725</Words>
  <Application>Microsoft Office PowerPoint</Application>
  <PresentationFormat>Breitbild</PresentationFormat>
  <Paragraphs>545</Paragraphs>
  <Slides>34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Arial</vt:lpstr>
      <vt:lpstr>Calibri</vt:lpstr>
      <vt:lpstr>Symbol</vt:lpstr>
      <vt:lpstr>Times New Roman</vt:lpstr>
      <vt:lpstr>Wingdings</vt:lpstr>
      <vt:lpstr>FFHS Vorlagen</vt:lpstr>
      <vt:lpstr>Teammeeting CRCS Q3</vt:lpstr>
      <vt:lpstr>Agenda</vt:lpstr>
      <vt:lpstr>Vorstellung: EMBA an der FFHS</vt:lpstr>
      <vt:lpstr>Agenda</vt:lpstr>
      <vt:lpstr>EMBA Welcher Weg passt zu mir?</vt:lpstr>
      <vt:lpstr>EMBA EMBA Landschaft in der Schweiz</vt:lpstr>
      <vt:lpstr>FFHS: Aktuelles Curriculum (Stand Heute) </vt:lpstr>
      <vt:lpstr>Besonderheiten EMBA an der FFHS</vt:lpstr>
      <vt:lpstr>Aktuelle Vorzüge des EMBA an der FFHS</vt:lpstr>
      <vt:lpstr>EMBA der Zukunft an der FFHS</vt:lpstr>
      <vt:lpstr>Kriterien neues EMBA Curriculum </vt:lpstr>
      <vt:lpstr>Kriterien neues EMBA Curriculum </vt:lpstr>
      <vt:lpstr>EMBA Curriculum 2025 der Zukunft </vt:lpstr>
      <vt:lpstr>EMBA Curriculum 2025 der Zukunft Die einzelnen CAS </vt:lpstr>
      <vt:lpstr>PowerPoint-Präsentation</vt:lpstr>
      <vt:lpstr>Vielen Dank für die Aufmerksamkeit!</vt:lpstr>
      <vt:lpstr>Das CAS Leadership </vt:lpstr>
      <vt:lpstr>Konzept Beratungsangebot</vt:lpstr>
      <vt:lpstr>Ziele</vt:lpstr>
      <vt:lpstr>Nutzen/Vorteile</vt:lpstr>
      <vt:lpstr>Konkurrenzanalyse</vt:lpstr>
      <vt:lpstr>Konkurrenzanalyse</vt:lpstr>
      <vt:lpstr>Konkurrenzanalyse</vt:lpstr>
      <vt:lpstr>Fazit Konkurrenzanalyse</vt:lpstr>
      <vt:lpstr>Umfrage </vt:lpstr>
      <vt:lpstr>Umfrage</vt:lpstr>
      <vt:lpstr>Umfrage</vt:lpstr>
      <vt:lpstr>Umfrage</vt:lpstr>
      <vt:lpstr>Umfrage</vt:lpstr>
      <vt:lpstr>Fazit Umfrage</vt:lpstr>
      <vt:lpstr>Fragen &amp; Diskussion</vt:lpstr>
      <vt:lpstr>Erfassung Schulveranstaltungen Sharepoint</vt:lpstr>
      <vt:lpstr>Korrekte Erfassung der FFHS-Produkte!</vt:lpstr>
      <vt:lpstr>Dein Update: Dein Fokus für die nächsten Wochen: Pain Points, Erfolge und Fragen</vt:lpstr>
    </vt:vector>
  </TitlesOfParts>
  <Manager/>
  <Company>Fernfachhochschule Schweiz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Teamstruktur &amp; Verantwortungen</dc:title>
  <dc:subject/>
  <dc:creator>Anja Bouron</dc:creator>
  <cp:keywords/>
  <dc:description/>
  <cp:lastModifiedBy>Anja Bouron</cp:lastModifiedBy>
  <cp:revision>49</cp:revision>
  <dcterms:created xsi:type="dcterms:W3CDTF">2022-07-06T17:29:44Z</dcterms:created>
  <dcterms:modified xsi:type="dcterms:W3CDTF">2024-10-21T15:49:32Z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0x010100292077D66BF60645B0CBEC0F5D6CF431</vt:lpwstr>
  </property>
  <property fmtid="{D5CDD505-2E9C-101B-9397-08002B2CF9AE}" pid="3" name="Order">
    <vt:r8>9600</vt:r8>
  </property>
</Properties>
</file>